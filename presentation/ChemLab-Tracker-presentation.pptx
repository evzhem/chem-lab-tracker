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день. Тема моей работы — приложение-справочник по химии ChemLab Tracker.</a:t>
            </a:r>
          </a:p>
          <a:p>
            <a:r>
              <a:t>Идея была сделать не сайт, а именно приложение для телефона, которым можно пользоваться</a:t>
            </a:r>
          </a:p>
          <a:p>
            <a:r>
              <a:t>на уроке или в лаборатории: без интернета и без регистрации.</a:t>
            </a:r>
          </a:p>
          <a:p>
            <a:r>
              <a:t>В работе я собирал данные по химии, проектировал интерфейс под телефон, писал код</a:t>
            </a:r>
          </a:p>
          <a:p>
            <a:r>
              <a:t>на React и затем упаковал всё в Android-приложение.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я сформулировал проблему: на уроке химии телефон обычно под рукой, но нужного</a:t>
            </a:r>
          </a:p>
          <a:p>
            <a:r>
              <a:t>справочника в нём нет — либо это сайт с рекламой, либо приложение с подпиской,</a:t>
            </a:r>
          </a:p>
          <a:p>
            <a:r>
              <a:t>либо в кабинете просто нет интернета.</a:t>
            </a:r>
          </a:p>
          <a:p>
            <a:r>
              <a:t>Поэтому цель — собрать один справочник, который всегда с собой.</a:t>
            </a:r>
          </a:p>
          <a:p>
            <a:r>
              <a:t>Я разбил работу на пять задач: данные, интерфейс, разделы, хранение данных и сборка.</a:t>
            </a:r>
          </a:p>
          <a:p>
            <a:r>
              <a:t>Отдельно записал четыре критерия: работа офлайн, установка на телефон, хранение данных</a:t>
            </a:r>
          </a:p>
          <a:p>
            <a:r>
              <a:t>только на устройстве и мгновенное открытие разделов.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итоге получилось девять экранов. Первые пять — справочник: реакции с поиском, таблица</a:t>
            </a:r>
          </a:p>
          <a:p>
            <a:r>
              <a:t>Менделеева с карточками элементов, таблица растворимости, калькулятор молярной массы и раздел</a:t>
            </a:r>
          </a:p>
          <a:p>
            <a:r>
              <a:t>со схемами — ряды активности, электроотрицательности, потенциалы и кислоты.</a:t>
            </a:r>
          </a:p>
          <a:p>
            <a:r>
              <a:t>Шестой экран — дневник опытов: цель, реактивы, шаги, наблюдения и отметки о выполнении.</a:t>
            </a:r>
          </a:p>
          <a:p>
            <a:r>
              <a:t>Седьмой — настройки: тема, проверка обновлений, очистка дневника.</a:t>
            </a:r>
          </a:p>
          <a:p>
            <a:r>
              <a:t>Ещё два экрана — карточка отдельного опыта и техника безопасности.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Пару слов о том, как это выглядит вживую. Вот четыре основных экрана: главный с открытым</a:t>
            </a:r>
          </a:p>
          <a:p>
            <a:r>
              <a:t>поиском реакций, таблица Менделеева с масштабом, таблица растворимости и дневник опыта.</a:t>
            </a:r>
          </a:p>
          <a:p>
            <a:r>
              <a:t>Здесь у меня подготовлены рамки — на защите я вставлю сюда настоящие скриншоты с телефона.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Технологии я выбирал по одному принципу: чтобы один и тот же код работал и в браузере,</a:t>
            </a:r>
          </a:p>
          <a:p>
            <a:r>
              <a:t>и как приложение на Android, и при этом не требовал сервера.</a:t>
            </a:r>
          </a:p>
          <a:p>
            <a:r>
              <a:t>React удобен тем, что интерфейс собирается из независимых компонентов, а состояние хранится</a:t>
            </a:r>
          </a:p>
          <a:p>
            <a:r>
              <a:t>рядом с ними. Vite даёт быструю сборку и моментальную перезагрузку при правках.</a:t>
            </a:r>
          </a:p>
          <a:p>
            <a:r>
              <a:t>Tailwind ускоряет вёрстку и не даёт расползтись стилям. Для навигации — React Router,</a:t>
            </a:r>
          </a:p>
          <a:p>
            <a:r>
              <a:t>для офлайна — плагин PWA, а Capacitor «оборачивает» готовую сборку в APK.</a:t>
            </a:r>
          </a:p>
          <a:p>
            <a:r>
              <a:t>Базу данных я сознательно не использовал: справочные данные не меняются, их удобнее держать</a:t>
            </a:r>
          </a:p>
          <a:p>
            <a:r>
              <a:t>в коде, а пользовательские данные — в localStorage на устройстве.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схема связей в проекте. Сверху — данные: массивы элементов, реакций, таблица</a:t>
            </a:r>
          </a:p>
          <a:p>
            <a:r>
              <a:t>растворимости, схемы. Они не зависят от интерфейса.</a:t>
            </a:r>
          </a:p>
          <a:p>
            <a:r>
              <a:t>Из данных собираются экраны в папке pages. Экраны не обращаются друг к другу напрямую:</a:t>
            </a:r>
          </a:p>
          <a:p>
            <a:r>
              <a:t>общее вынесено в папку lib — это хранение данных, парсер формул, темы и проверка обновлений.</a:t>
            </a:r>
          </a:p>
          <a:p>
            <a:r>
              <a:t>Внизу то, чем всё заканчивается: localStorage на устройстве, service worker для офлайн-режима</a:t>
            </a:r>
          </a:p>
          <a:p>
            <a:r>
              <a:t>и Capacitor, который превращает сборку в APK.</a:t>
            </a:r>
          </a:p>
          <a:p>
            <a:r>
              <a:t>Такое разделение позволило добавлять новые разделы, почти не трогая существующие.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 структуру. Компоненты — то, что повторно используется: общий каркас с шапкой и меню,</a:t>
            </a:r>
          </a:p>
          <a:p>
            <a:r>
              <a:t>блок управления масштабом таблиц, окно и карточка обновления.</a:t>
            </a:r>
          </a:p>
          <a:p>
            <a:r>
              <a:t>В папке data — сами справочные данные, по файлу на тему.</a:t>
            </a:r>
          </a:p>
          <a:p>
            <a:r>
              <a:t>В lib — логика, которую используют несколько экранов: работа с localStorage, расчёт молярной</a:t>
            </a:r>
          </a:p>
          <a:p>
            <a:r>
              <a:t>массы, темы и проверка обновлений. В pages — сами экраны.</a:t>
            </a:r>
          </a:p>
          <a:p>
            <a:r>
              <a:t>Плюс App.jsx с маршрутами и main.jsx — точка входа.</a:t>
            </a:r>
          </a:p>
          <a:p>
            <a:r>
              <a:t>Отдельно в workflows лежат сценарии автоматической сборки сайта и APK.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файл main.jsx — точка входа, с него начинается запуск.</a:t>
            </a:r>
          </a:p>
          <a:p>
            <a:r>
              <a:t>Сначала регистрируется service worker: это механизм браузера, который сохраняет файлы</a:t>
            </a:r>
          </a:p>
          <a:p>
            <a:r>
              <a:t>приложения в кэш, поэтому потом оно открывается без интернета.</a:t>
            </a:r>
          </a:p>
          <a:p>
            <a:r>
              <a:t>Дальше приложение отрисовывается в элемент с id root. Внутри — два провайдера.</a:t>
            </a:r>
          </a:p>
          <a:p>
            <a:r>
              <a:t>Провайдер — это способ отдать данные сразу всем экранам. ThemeProvider хранит выбранную тему</a:t>
            </a:r>
          </a:p>
          <a:p>
            <a:r>
              <a:t>и вешает её атрибутом на html, а UpdateProvider проверяет, не вышла ли новая версия.</a:t>
            </a:r>
          </a:p>
          <a:p>
            <a:r>
              <a:t>App внутри — это уже сами экраны и маршруты.</a:t>
            </a:r>
          </a:p>
          <a:p>
            <a:r>
              <a:t>Порядок вложенности не случаен: тема должна применяться раньше остальных.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описаны маршруты: какой адрес соответствует какому экрану.</a:t>
            </a:r>
          </a:p>
          <a:p>
            <a:r>
              <a:t>Все экраны вложены в один маршрут с Layout, то есть у них общий каркас: шапка и нижнее меню.</a:t>
            </a:r>
          </a:p>
          <a:p>
            <a:r>
              <a:t>При переходе между разделами Layout не перерисовывается, меняется только содержимое — поэтому</a:t>
            </a:r>
          </a:p>
          <a:p>
            <a:r>
              <a:t>приложение не «моргает» и разделы открываются мгновенно.</a:t>
            </a:r>
          </a:p>
          <a:p>
            <a:r>
              <a:t>Я использовал HashRouter, то есть адреса с решёткой. Это осознанное решение: сайт лежит</a:t>
            </a:r>
          </a:p>
          <a:p>
            <a:r>
              <a:t>на GitHub Pages, где нет своего сервера, и при обычных путях перезагрузка страницы дала бы</a:t>
            </a:r>
          </a:p>
          <a:p>
            <a:r>
              <a:t>ошибку 404. С решёткой адрес обрабатывается целиком на стороне браузера.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 — общий каркас приложения. Сверху шапка: логотип и название текущего раздела,</a:t>
            </a:r>
          </a:p>
          <a:p>
            <a:r>
              <a:t>кнопка настроек. Снизу — меню из пяти разделов.</a:t>
            </a:r>
          </a:p>
          <a:p>
            <a:r>
              <a:t>Ключевая строка — Outlet. Это место, куда роутер подставляет открытый раздел. Благодаря этому</a:t>
            </a:r>
          </a:p>
          <a:p>
            <a:r>
              <a:t>Layout не знает, какой экран внутри, а экраны не знают про меню — они независимы.</a:t>
            </a:r>
          </a:p>
          <a:p>
            <a:r>
              <a:t>Заголовок в шапке берётся из словаря по адресу, а не прописан в каждом экране отдельно.</a:t>
            </a:r>
          </a:p>
          <a:p>
            <a:r>
              <a:t>Меню закреплено внизу: на телефоне это удобнее. Отступ safe-area нужен из-за системной полосы</a:t>
            </a:r>
          </a:p>
          <a:p>
            <a:r>
              <a:t>жестов на iPhone — без него последняя строка меню оказалась бы под 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в приложении — это обычные объекты JavaScript. Я вынес их в отдельную папку, чтобы код</a:t>
            </a:r>
          </a:p>
          <a:p>
            <a:r>
              <a:t>интерфейса не смешивался со справочником.</a:t>
            </a:r>
          </a:p>
          <a:p>
            <a:r>
              <a:t>У элемента есть номер, символ, название, масса, период, группа, категория, электронная</a:t>
            </a:r>
          </a:p>
          <a:p>
            <a:r>
              <a:t>конфигурация и степени окисления. Поле категории связывает данные с оформлением: именно из</a:t>
            </a:r>
          </a:p>
          <a:p>
            <a:r>
              <a:t>него берётся цвет клетки.</a:t>
            </a:r>
          </a:p>
          <a:p>
            <a:r>
              <a:t>У реакции — уравнение, тип, список реагентов и пояснение. Массив реагентов нужен для поиска.</a:t>
            </a:r>
          </a:p>
          <a:p>
            <a:r>
              <a:t>Всего я собрал 118 элементов, сорок реакций и таблицу растворимости 24 на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Поиск реакций — главный пример связки «данные + логика».</a:t>
            </a:r>
          </a:p>
          <a:p>
            <a:r>
              <a:t>У каждой реакции есть уравнение, массив реагентов и пояснение. Функция берёт запрос</a:t>
            </a:r>
          </a:p>
          <a:p>
            <a:r>
              <a:t>пользователя, приводит его к нижнему регистру и убирает пробелы.</a:t>
            </a:r>
          </a:p>
          <a:p>
            <a:r>
              <a:t>Отдельная важная деталь — замена нижних индексов на обычные цифры. В базе уравнение записано</a:t>
            </a:r>
          </a:p>
          <a:p>
            <a:r>
              <a:t>красиво: H₂O, а пользователь на клавиатуре телефона набирает H2O. Без этой замены поиск</a:t>
            </a:r>
          </a:p>
          <a:p>
            <a:r>
              <a:t>не находил бы ничего.</a:t>
            </a:r>
          </a:p>
          <a:p>
            <a:r>
              <a:t>Дальше запрос делится по плюсу и стрелке: если введено «NaOH + HCl», приложение ищет реакцию,</a:t>
            </a:r>
          </a:p>
          <a:p>
            <a:r>
              <a:t>где встречаются оба вещества, а не только первое.</a:t>
            </a:r>
          </a:p>
          <a:p>
            <a:r>
              <a:t>Перебор по сорока реакциям занимает миллисекунды, поэтому база данных здесь не нужна,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Калькулятор молярной массы — самая «алгоритмическая» часть проекта, здесь я писал разбор строки.</a:t>
            </a:r>
          </a:p>
          <a:p>
            <a:r>
              <a:t>Работа идёт в три шага. Первый — нормализация: разные обозначения гидратов приводятся</a:t>
            </a:r>
          </a:p>
          <a:p>
            <a:r>
              <a:t>к одному виду, потому что точку в формуле человек понимает как разделитель, а не как запятую.</a:t>
            </a:r>
          </a:p>
          <a:p>
            <a:r>
              <a:t>Второй шаг — токенизация: строка режется на элементы и числа. Важно, что элемент может</a:t>
            </a:r>
          </a:p>
          <a:p>
            <a:r>
              <a:t>состоять из двух букв: хлор пишется Cl, железо Fe. Мой разбор читает заглавную букву</a:t>
            </a:r>
          </a:p>
          <a:p>
            <a:r>
              <a:t>и добавляет к ней строчные.</a:t>
            </a:r>
          </a:p>
          <a:p>
            <a:r>
              <a:t>Третий шаг — подсчёт с рекурсией: если встречается скобка, я рекурсивно считаю то, что внутри,</a:t>
            </a:r>
          </a:p>
          <a:p>
            <a:r>
              <a:t>и умножаю на число после скобки — так получается Fe2(SO4)3.</a:t>
            </a:r>
          </a:p>
          <a:p>
            <a:r>
              <a:t>Дальше остаётся умножить количество атомов на атомные массы из таблицы и сложить.</a:t>
            </a:r>
          </a:p>
          <a:p>
            <a:r>
              <a:t>Ошибки обрабатываются текстом, а не «падением» приложения.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 Менделеева — пример того, как данные превращаются в интерфейс.</a:t>
            </a:r>
          </a:p>
          <a:p>
            <a:r>
              <a:t>Я не расставлял 118 клеток руками: таблица строится циклом по массиву элементов, а положение</a:t>
            </a:r>
          </a:p>
          <a:p>
            <a:r>
              <a:t>клетки определяется периодом и группой. CSS Grid из восемнадцати колонок сам выравнивает</a:t>
            </a:r>
          </a:p>
          <a:p>
            <a:r>
              <a:t>клетки, поэтому все они одинаковые.</a:t>
            </a:r>
          </a:p>
          <a:p>
            <a:r>
              <a:t>Категория элемента — щелочные металлы, галогены, инертные газы — задаёт цвет клетки,</a:t>
            </a:r>
          </a:p>
          <a:p>
            <a:r>
              <a:t>это связь данных и оформления.</a:t>
            </a:r>
          </a:p>
          <a:p>
            <a:r>
              <a:t>При нажатии на клетку открывается карточка элемента. Есть и поиск по названию, символу или</a:t>
            </a:r>
          </a:p>
          <a:p>
            <a:r>
              <a:t>номеру: подходящие элементы подсвечиваются, остальные затемняются.</a:t>
            </a:r>
          </a:p>
          <a:p>
            <a:r>
              <a:t>Размер клетки задан в em, поэтому вся таблица масштабируется одной переменной — об этом я</a:t>
            </a:r>
          </a:p>
          <a:p>
            <a:r>
              <a:t>расскажу на слайде про масштаб.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Дневник опытов — единственное место, где пользователь сам создаёт данные.</a:t>
            </a:r>
          </a:p>
          <a:p>
            <a:r>
              <a:t>Я храню их в localStorage, встроенном хранилище браузера. Оно подходит по трём причинам:</a:t>
            </a:r>
          </a:p>
          <a:p>
            <a:r>
              <a:t>не нужен сервер и регистрация, данные доступны офлайн и остаются на устройстве ученика.</a:t>
            </a:r>
          </a:p>
          <a:p>
            <a:r>
              <a:t>В ключе хранилища указана версия — это запас на будущее: если структура записи изменится,</a:t>
            </a:r>
          </a:p>
          <a:p>
            <a:r>
              <a:t>я смогу отличить старый формат от нового.</a:t>
            </a:r>
          </a:p>
          <a:p>
            <a:r>
              <a:t>Функция normalizeExperiment достраивает отсутствующие поля: если запись создана в более старой</a:t>
            </a:r>
          </a:p>
          <a:p>
            <a:r>
              <a:t>версии приложения, при чтении она всё равно будет корректной.</a:t>
            </a:r>
          </a:p>
          <a:p>
            <a:r>
              <a:t>Чтение и запись обёрнуты в try/catch, чтобы повреждённые данные не ломали приложение.</a:t>
            </a:r>
          </a:p>
          <a:p>
            <a:r>
              <a:t>Каждая запись и каждый шаг получают уникальный идентификатор — можно редактировать</a:t>
            </a:r>
          </a:p>
          <a:p>
            <a:r>
              <a:t>и удалять их по отдельности.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 темы. В приложении две темы: обычная тёмная и AMOLED — полностью чёрная.</a:t>
            </a:r>
          </a:p>
          <a:p>
            <a:r>
              <a:t>Сделано так: провайдер темы вешает на корневой элемент html атрибут data-theme, а все цвета</a:t>
            </a:r>
          </a:p>
          <a:p>
            <a:r>
              <a:t>в стилях — это CSS-переменные. Меняется одна переменная — меняется всё приложение.</a:t>
            </a:r>
          </a:p>
          <a:p>
            <a:r>
              <a:t>Такой подход быстрее и проще, чем хранить цвета в каждом компоненте.</a:t>
            </a:r>
          </a:p>
          <a:p>
            <a:r>
              <a:t>Отдельно обновляется метатег theme-color — он отвечает за цвет строки состояния в браузере.</a:t>
            </a:r>
          </a:p>
          <a:p>
            <a:r>
              <a:t>AMOLED-тема убирает фон-градиент и делает полупрозрачные панели прозрачнее: на OLED-экранах</a:t>
            </a:r>
          </a:p>
          <a:p>
            <a:r>
              <a:t>чёрный пиксель не светится, поэтому расход батареи меньше.</a:t>
            </a:r>
          </a:p>
          <a:p>
            <a:r>
              <a:t>Любой экран может узнать текущую тему через хук useTheme — не нужно передавать её через</a:t>
            </a:r>
          </a:p>
          <a:p>
            <a:r>
              <a:t>все компоненты.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 Менделеева и таблица растворимости не помещаются на экран телефона целиком,</a:t>
            </a:r>
          </a:p>
          <a:p>
            <a:r>
              <a:t>поэтому я сделал масштабирование.</a:t>
            </a:r>
          </a:p>
          <a:p>
            <a:r>
              <a:t>Решение простое: все размеры внутри таблицы заданы в em, то есть относительно размера шрифта.</a:t>
            </a:r>
          </a:p>
          <a:p>
            <a:r>
              <a:t>Масштаб — это просто изменение размера шрифта у контейнера. Одна цифра увеличивает и клетки,</a:t>
            </a:r>
          </a:p>
          <a:p>
            <a:r>
              <a:t>и подписи, и расстояния между ними — таблица не «разъезжается».</a:t>
            </a:r>
          </a:p>
          <a:p>
            <a:r>
              <a:t>Изначально я пробовал CSS-свойство zoom, которое меняет масштаб блока. Но у меня есть</a:t>
            </a:r>
          </a:p>
          <a:p>
            <a:r>
              <a:t>закреплённые заголовки строк и столбцов при прокрутке, и они смещались. Поэтому я перешёл</a:t>
            </a:r>
          </a:p>
          <a:p>
            <a:r>
              <a:t>на шрифт и em — это работает одинаково во всех браузерах.</a:t>
            </a:r>
          </a:p>
          <a:p>
            <a:r>
              <a:t>Ещё есть кнопка «уместить по ширине»: я измеряю ширину контейнера через ResizeObserver</a:t>
            </a:r>
          </a:p>
          <a:p>
            <a:r>
              <a:t>и вычисляю нужный масштаб. Выбор сохраняется, чтобы не подбирать его каждый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я сделал механизм, чтобы приложение само узнавало о новых версиях.</a:t>
            </a:r>
          </a:p>
          <a:p>
            <a:r>
              <a:t>При сборке формируется файл version.json: номер версии, номер сборки и список изменений.</a:t>
            </a:r>
          </a:p>
          <a:p>
            <a:r>
              <a:t>При запуске приложение его запрашивает и сравнивает со своей версией.</a:t>
            </a:r>
          </a:p>
          <a:p>
            <a:r>
              <a:t>Сравнение — отдельная функция, и это не формальность. Если сравнивать версии как строки,</a:t>
            </a:r>
          </a:p>
          <a:p>
            <a:r>
              <a:t>то «1.10» окажется меньше, чем «1.9», потому что символ «1» меньше символа «9». Поэтому версия</a:t>
            </a:r>
          </a:p>
          <a:p>
            <a:r>
              <a:t>разбивается на числа и сравнивается по частям.</a:t>
            </a:r>
          </a:p>
          <a:p>
            <a:r>
              <a:t>Ещё две детали: отключено кэширование, иначе браузер отдаст старый файл, и запрос обёрнут</a:t>
            </a:r>
          </a:p>
          <a:p>
            <a:r>
              <a:t>в try/catch — если интернета нет, приложение просто продолжает работать без ошибок.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интерфейсная часть обновлений.</a:t>
            </a:r>
          </a:p>
          <a:p>
            <a:r>
              <a:t>Проверка запускается не сразу, а через секунду после старта, чтобы не тормозить первый показ</a:t>
            </a:r>
          </a:p>
          <a:p>
            <a:r>
              <a:t>экрана. Если обновлений нет — пользователь ничего не видит, никаких окон и сообщений.</a:t>
            </a:r>
          </a:p>
          <a:p>
            <a:r>
              <a:t>Иначе на главном экране появляется карточка: номер версии, краткий список изменений и кнопки.</a:t>
            </a:r>
          </a:p>
          <a:p>
            <a:r>
              <a:t>Кнопка «Позже» запоминает версию, чтобы окно не всплывало при каждом запуске — это важно</a:t>
            </a:r>
          </a:p>
          <a:p>
            <a:r>
              <a:t>для удобства.</a:t>
            </a:r>
          </a:p>
          <a:p>
            <a:r>
              <a:t>Если пользователь нажимает «Обновить» в браузере, активируется новый service worker</a:t>
            </a:r>
          </a:p>
          <a:p>
            <a:r>
              <a:t>и страница перезагружается. В Android-версии открывается загрузка нового файла, а установка</a:t>
            </a:r>
          </a:p>
          <a:p>
            <a:r>
              <a:t>поверх старой сохраняет дневник, потому что данные лежат в хранилище приложения.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Последняя техническая часть — сборка.</a:t>
            </a:r>
          </a:p>
          <a:p>
            <a:r>
              <a:t>В проекте два автоматических сценария. Первый публикует сайт на GitHub Pages при каждом</a:t>
            </a:r>
          </a:p>
          <a:p>
            <a:r>
              <a:t>обновлении основной ветки. Второй собирает APK для Android: ставит Java, устанавливает</a:t>
            </a:r>
          </a:p>
          <a:p>
            <a:r>
              <a:t>зависимости, собирает веб-часть, переносит её в Android-проект через Capacitor и запускает</a:t>
            </a:r>
          </a:p>
          <a:p>
            <a:r>
              <a:t>сборку Gradle. Готовый файл автоматически публикуется в разделе релизов.</a:t>
            </a:r>
          </a:p>
          <a:p>
            <a:r>
              <a:t>Важная деталь — один и тот же код собирается двумя способами: для сайта нужны пути от корня,</a:t>
            </a:r>
          </a:p>
          <a:p>
            <a:r>
              <a:t>а для Android — относительные, потому что приложение работает из локального файла.</a:t>
            </a:r>
          </a:p>
          <a:p>
            <a:r>
              <a:t>И ещё: номер сборки подставляется в приложение, поэтому оно знает свою версию — именно это</a:t>
            </a:r>
          </a:p>
          <a:p>
            <a:r>
              <a:t>позволяет сравнивать её с сервером и предлагать обновление.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Отдельно я дорабатывал мелочи, которые заметны именно на телефоне.</a:t>
            </a:r>
          </a:p>
          <a:p>
            <a:r>
              <a:t>Первое — безопасные отступы: на iPhone сверху «чёлка», снизу полоса жестов, поэтому я</a:t>
            </a:r>
          </a:p>
          <a:p>
            <a:r>
              <a:t>использую переменные safe-area, чтобы меню и шапка не наезжали на системные элементы.</a:t>
            </a:r>
          </a:p>
          <a:p>
            <a:r>
              <a:t>Второе — поля ввода размером 16 пикселей. Это не про красоту: в Safari на iPhone, если шрифт</a:t>
            </a:r>
          </a:p>
          <a:p>
            <a:r>
              <a:t>меньше, браузер сам увеличивает страницу при фокусе, и вёрстка съезжает.</a:t>
            </a:r>
          </a:p>
          <a:p>
            <a:r>
              <a:t>Третье — крупные элементы управления и меню, до которого достаёт большой палец.</a:t>
            </a:r>
          </a:p>
          <a:p>
            <a:r>
              <a:t>Четвёртое — пустые состояния: если данных нет, пользователь видит подсказку, что делать.</a:t>
            </a:r>
          </a:p>
          <a:p>
            <a:r>
              <a:t>И пятое — качество кода: подключён линтер, который находит забытые переменные и ошибки,</a:t>
            </a:r>
          </a:p>
          <a:p>
            <a:r>
              <a:t>а перед сборкой я проверяю, что проект собирается и все экраны открываются.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Подведу итог.</a:t>
            </a:r>
          </a:p>
          <a:p>
            <a:r>
              <a:t>Получилось приложение из девяти экранов, которое работает и в браузере, и как обычное</a:t>
            </a:r>
          </a:p>
          <a:p>
            <a:r>
              <a:t>приложение на Android. Внутри сорок реакций, полная таблица Менделеева, таблица</a:t>
            </a:r>
          </a:p>
          <a:p>
            <a:r>
              <a:t>растворимости и справочные материалы, а дневник опытов хранится на устройстве.</a:t>
            </a:r>
          </a:p>
          <a:p>
            <a:r>
              <a:t>Для меня главный вывод: самая сложная часть — не вёрстка, а связи. Где хранить данные, как</a:t>
            </a:r>
          </a:p>
          <a:p>
            <a:r>
              <a:t>передать их на экран, как сделать так, чтобы записи пользователя не потерялись при обновлении</a:t>
            </a:r>
          </a:p>
          <a:p>
            <a:r>
              <a:t>приложения. Именно над этим я думал больше всего.</a:t>
            </a:r>
          </a:p>
          <a:p>
            <a:r>
              <a:t>В планах — экспорт дневника в PDF, свои реакции и версия для планшета.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внимание, готов ответить на вопросы.</a:t>
            </a:r>
          </a:p>
          <a:p>
            <a:r>
              <a:t>Если спросят про самое трудное — скажу про парсер формул и про совместимость версий.</a:t>
            </a:r>
          </a:p>
          <a:p>
            <a:r>
              <a:t>Если спросят про дальнейшее развитие — экспорт дневника и свои реакции.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6B6D4"/>
                </a:solidFill>
                <a:latin typeface="Arial"/>
              </a:rPr>
              <a:t>ПРОЕКТНАЯ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FFFFFF"/>
                </a:solidFill>
                <a:latin typeface="Arial"/>
              </a:rPr>
              <a:t>ChemLab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F5F3FF"/>
                </a:solidFill>
                <a:latin typeface="Arial"/>
              </a:rPr>
              <a:t>мобильное приложение-справочник по химии: реакции, таблица Менделеева,
растворимость, молярная масса, справочные схемы и дневник опытов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1" y="3886200"/>
            <a:ext cx="201168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Технологии: </a:t>
            </a:r>
            <a:r>
              <a:rPr sz="1400" b="0">
                <a:solidFill>
                  <a:srgbClr val="F5F3FF"/>
                </a:solidFill>
                <a:latin typeface="Arial"/>
              </a:rPr>
              <a:t>React · Vite · Tailwind CSS · PWA · Capacitor (Android)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Формат: </a:t>
            </a:r>
            <a:r>
              <a:rPr sz="1400" b="0">
                <a:solidFill>
                  <a:srgbClr val="F5F3FF"/>
                </a:solidFill>
                <a:latin typeface="Arial"/>
              </a:rPr>
              <a:t>сайт (PWA) и приложение для Android (APK), работают офлайн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53212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F3FF"/>
                </a:solidFill>
                <a:latin typeface="Arial"/>
              </a:rPr>
              <a:t>Выполнил: </a:t>
            </a:r>
            <a:r>
              <a:rPr sz="1300" b="0">
                <a:solidFill>
                  <a:srgbClr val="F5F3FF"/>
                </a:solidFill>
                <a:latin typeface="Arial"/>
              </a:rPr>
              <a:t>Фамилия Имя, группа ______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F3FF"/>
                </a:solidFill>
                <a:latin typeface="Arial"/>
              </a:rPr>
              <a:t>Руководитель: </a:t>
            </a:r>
            <a:r>
              <a:rPr sz="1300" b="0">
                <a:solidFill>
                  <a:srgbClr val="F5F3FF"/>
                </a:solidFill>
                <a:latin typeface="Arial"/>
              </a:rPr>
              <a:t>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ЗАЧЕМ Я ЭТО ДЕЛАЛ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Проблема, цель и задачи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8469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1">
                <a:solidFill>
                  <a:srgbClr val="7C3AED"/>
                </a:solidFill>
                <a:latin typeface="Arial"/>
              </a:rPr>
              <a:t>▸ </a:t>
            </a:r>
            <a:r>
              <a:rPr sz="1450" b="1">
                <a:solidFill>
                  <a:srgbClr val="1F2937"/>
                </a:solidFill>
                <a:latin typeface="Arial"/>
              </a:rPr>
              <a:t>Проблема: </a:t>
            </a:r>
            <a:r>
              <a:rPr sz="1450" b="0">
                <a:solidFill>
                  <a:srgbClr val="1F2937"/>
                </a:solidFill>
                <a:latin typeface="Arial"/>
              </a:rPr>
              <a:t>обычные справочники — либо книги, либо сайты с рекламой, которые не работают без интернета.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7C3AED"/>
                </a:solidFill>
                <a:latin typeface="Arial"/>
              </a:rPr>
              <a:t>▸ </a:t>
            </a:r>
            <a:r>
              <a:rPr sz="1450" b="1">
                <a:solidFill>
                  <a:srgbClr val="1F2937"/>
                </a:solidFill>
                <a:latin typeface="Arial"/>
              </a:rPr>
              <a:t>Цель: </a:t>
            </a:r>
            <a:r>
              <a:rPr sz="1450" b="0">
                <a:solidFill>
                  <a:srgbClr val="1F2937"/>
                </a:solidFill>
                <a:latin typeface="Arial"/>
              </a:rPr>
              <a:t>приложение на телефоне, где вся нужная справочная информация под рукой — офлайн.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7C3AED"/>
                </a:solidFill>
                <a:latin typeface="Arial"/>
              </a:rPr>
              <a:t>▸ </a:t>
            </a:r>
            <a:r>
              <a:rPr sz="1450" b="1">
                <a:solidFill>
                  <a:srgbClr val="1F2937"/>
                </a:solidFill>
                <a:latin typeface="Arial"/>
              </a:rPr>
              <a:t>Задача 1: </a:t>
            </a:r>
            <a:r>
              <a:rPr sz="1450" b="0">
                <a:solidFill>
                  <a:srgbClr val="1F2937"/>
                </a:solidFill>
                <a:latin typeface="Arial"/>
              </a:rPr>
              <a:t>собрать и структурировать химические данные в удобном для программы виде.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7C3AED"/>
                </a:solidFill>
                <a:latin typeface="Arial"/>
              </a:rPr>
              <a:t>▸ </a:t>
            </a:r>
            <a:r>
              <a:rPr sz="1450" b="1">
                <a:solidFill>
                  <a:srgbClr val="1F2937"/>
                </a:solidFill>
                <a:latin typeface="Arial"/>
              </a:rPr>
              <a:t>Задача 2: </a:t>
            </a:r>
            <a:r>
              <a:rPr sz="1450" b="0">
                <a:solidFill>
                  <a:srgbClr val="1F2937"/>
                </a:solidFill>
                <a:latin typeface="Arial"/>
              </a:rPr>
              <a:t>спроектировать интерфейс под маленький экран (управление одной рукой).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7C3AED"/>
                </a:solidFill>
                <a:latin typeface="Arial"/>
              </a:rPr>
              <a:t>▸ </a:t>
            </a:r>
            <a:r>
              <a:rPr sz="1450" b="1">
                <a:solidFill>
                  <a:srgbClr val="1F2937"/>
                </a:solidFill>
                <a:latin typeface="Arial"/>
              </a:rPr>
              <a:t>Задача 3: </a:t>
            </a:r>
            <a:r>
              <a:rPr sz="1450" b="0">
                <a:solidFill>
                  <a:srgbClr val="1F2937"/>
                </a:solidFill>
                <a:latin typeface="Arial"/>
              </a:rPr>
              <a:t>написать разделы: реакции, таблица Менделеева, растворимость, молярная масса, схемы, дневник.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7C3AED"/>
                </a:solidFill>
                <a:latin typeface="Arial"/>
              </a:rPr>
              <a:t>▸ </a:t>
            </a:r>
            <a:r>
              <a:rPr sz="1450" b="1">
                <a:solidFill>
                  <a:srgbClr val="1F2937"/>
                </a:solidFill>
                <a:latin typeface="Arial"/>
              </a:rPr>
              <a:t>Задача 4: </a:t>
            </a:r>
            <a:r>
              <a:rPr sz="1450" b="0">
                <a:solidFill>
                  <a:srgbClr val="1F2937"/>
                </a:solidFill>
                <a:latin typeface="Arial"/>
              </a:rPr>
              <a:t>сделать хранение данных на устройстве и работу без интернета.</a:t>
            </a:r>
          </a:p>
          <a:p>
            <a:pPr algn="l">
              <a:lnSpc>
                <a:spcPct val="122000"/>
              </a:lnSpc>
            </a:pPr>
            <a:r>
              <a:rPr sz="1450" b="1">
                <a:solidFill>
                  <a:srgbClr val="7C3AED"/>
                </a:solidFill>
                <a:latin typeface="Arial"/>
              </a:rPr>
              <a:t>▸ </a:t>
            </a:r>
            <a:r>
              <a:rPr sz="1450" b="1">
                <a:solidFill>
                  <a:srgbClr val="1F2937"/>
                </a:solidFill>
                <a:latin typeface="Arial"/>
              </a:rPr>
              <a:t>Задача 5: </a:t>
            </a:r>
            <a:r>
              <a:rPr sz="1450" b="0">
                <a:solidFill>
                  <a:srgbClr val="1F2937"/>
                </a:solidFill>
                <a:latin typeface="Arial"/>
              </a:rPr>
              <a:t>настроить автоматическую сборку: публикация сайта и сборка APK для Android.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64281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Требования, которые я поставил перед началом работы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11169"/>
            <a:ext cx="10820095" cy="116738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Критерии</a:t>
            </a:r>
            <a:r>
              <a:rPr sz="1200">
                <a:solidFill>
                  <a:srgbClr val="E2E8F0"/>
                </a:solidFill>
                <a:latin typeface="Consolas"/>
              </a:rPr>
              <a:t>, </a:t>
            </a:r>
            <a:r>
              <a:rPr sz="1200">
                <a:solidFill>
                  <a:srgbClr val="E2E8F0"/>
                </a:solidFill>
                <a:latin typeface="Consolas"/>
              </a:rPr>
              <a:t>по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которым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оценивал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результат</a:t>
            </a:r>
            <a:r>
              <a:rPr sz="120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</a:t>
            </a:r>
            <a:r>
              <a:rPr sz="1200">
                <a:solidFill>
                  <a:srgbClr val="93C5FD"/>
                </a:solidFill>
                <a:latin typeface="Consolas"/>
              </a:rPr>
              <a:t>1</a:t>
            </a:r>
            <a:r>
              <a:rPr sz="1200">
                <a:solidFill>
                  <a:srgbClr val="E2E8F0"/>
                </a:solidFill>
                <a:latin typeface="Consolas"/>
              </a:rPr>
              <a:t>) </a:t>
            </a:r>
            <a:r>
              <a:rPr sz="1200">
                <a:solidFill>
                  <a:srgbClr val="E2E8F0"/>
                </a:solidFill>
                <a:latin typeface="Consolas"/>
              </a:rPr>
              <a:t>после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первого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запуска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приложение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работает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без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интернета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</a:t>
            </a:r>
            <a:r>
              <a:rPr sz="1200">
                <a:solidFill>
                  <a:srgbClr val="93C5FD"/>
                </a:solidFill>
                <a:latin typeface="Consolas"/>
              </a:rPr>
              <a:t>2</a:t>
            </a:r>
            <a:r>
              <a:rPr sz="1200">
                <a:solidFill>
                  <a:srgbClr val="E2E8F0"/>
                </a:solidFill>
                <a:latin typeface="Consolas"/>
              </a:rPr>
              <a:t>) </a:t>
            </a:r>
            <a:r>
              <a:rPr sz="1200">
                <a:solidFill>
                  <a:srgbClr val="E2E8F0"/>
                </a:solidFill>
                <a:latin typeface="Consolas"/>
              </a:rPr>
              <a:t>открывается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на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телефоне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как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обычное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приложение</a:t>
            </a:r>
            <a:r>
              <a:rPr sz="1200">
                <a:solidFill>
                  <a:srgbClr val="E2E8F0"/>
                </a:solidFill>
                <a:latin typeface="Consolas"/>
              </a:rPr>
              <a:t> (</a:t>
            </a:r>
            <a:r>
              <a:rPr sz="1200">
                <a:solidFill>
                  <a:srgbClr val="E2E8F0"/>
                </a:solidFill>
                <a:latin typeface="Consolas"/>
              </a:rPr>
              <a:t>иконка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на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рабочем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столе</a:t>
            </a:r>
            <a:r>
              <a:rPr sz="12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</a:t>
            </a:r>
            <a:r>
              <a:rPr sz="1200">
                <a:solidFill>
                  <a:srgbClr val="93C5FD"/>
                </a:solidFill>
                <a:latin typeface="Consolas"/>
              </a:rPr>
              <a:t>3</a:t>
            </a:r>
            <a:r>
              <a:rPr sz="1200">
                <a:solidFill>
                  <a:srgbClr val="E2E8F0"/>
                </a:solidFill>
                <a:latin typeface="Consolas"/>
              </a:rPr>
              <a:t>) </a:t>
            </a:r>
            <a:r>
              <a:rPr sz="1200">
                <a:solidFill>
                  <a:srgbClr val="E2E8F0"/>
                </a:solidFill>
                <a:latin typeface="Consolas"/>
              </a:rPr>
              <a:t>данные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ученика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не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уходят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на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сервер</a:t>
            </a:r>
            <a:r>
              <a:rPr sz="1200">
                <a:solidFill>
                  <a:srgbClr val="E2E8F0"/>
                </a:solidFill>
                <a:latin typeface="Consolas"/>
              </a:rPr>
              <a:t> — </a:t>
            </a:r>
            <a:r>
              <a:rPr sz="1200">
                <a:solidFill>
                  <a:srgbClr val="E2E8F0"/>
                </a:solidFill>
                <a:latin typeface="Consolas"/>
              </a:rPr>
              <a:t>всё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хранится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на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устройстве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</a:t>
            </a:r>
            <a:r>
              <a:rPr sz="1200">
                <a:solidFill>
                  <a:srgbClr val="93C5FD"/>
                </a:solidFill>
                <a:latin typeface="Consolas"/>
              </a:rPr>
              <a:t>4</a:t>
            </a:r>
            <a:r>
              <a:rPr sz="1200">
                <a:solidFill>
                  <a:srgbClr val="E2E8F0"/>
                </a:solidFill>
                <a:latin typeface="Consolas"/>
              </a:rPr>
              <a:t>) </a:t>
            </a:r>
            <a:r>
              <a:rPr sz="1200">
                <a:solidFill>
                  <a:srgbClr val="E2E8F0"/>
                </a:solidFill>
                <a:latin typeface="Consolas"/>
              </a:rPr>
              <a:t>разделы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открываются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мгновенно</a:t>
            </a:r>
            <a:r>
              <a:rPr sz="1200">
                <a:solidFill>
                  <a:srgbClr val="E2E8F0"/>
                </a:solidFill>
                <a:latin typeface="Consolas"/>
              </a:rPr>
              <a:t>, </a:t>
            </a:r>
            <a:r>
              <a:rPr sz="1200">
                <a:solidFill>
                  <a:srgbClr val="E2E8F0"/>
                </a:solidFill>
                <a:latin typeface="Consolas"/>
              </a:rPr>
              <a:t>без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загрузок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и</a:t>
            </a:r>
            <a:r>
              <a:rPr sz="1200">
                <a:solidFill>
                  <a:srgbClr val="E2E8F0"/>
                </a:solidFill>
                <a:latin typeface="Consolas"/>
              </a:rPr>
              <a:t> «</a:t>
            </a:r>
            <a:r>
              <a:rPr sz="1200">
                <a:solidFill>
                  <a:srgbClr val="E2E8F0"/>
                </a:solidFill>
                <a:latin typeface="Consolas"/>
              </a:rPr>
              <a:t>крутилок</a:t>
            </a:r>
            <a:r>
              <a:rPr sz="1200">
                <a:solidFill>
                  <a:srgbClr val="E2E8F0"/>
                </a:solidFill>
                <a:latin typeface="Consolas"/>
              </a:rPr>
              <a:t>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ГОТОВЫЙ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Что умеет приложение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7927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7C3AED"/>
                </a:solidFill>
                <a:latin typeface="Arial"/>
              </a:rPr>
              <a:t>▸ </a:t>
            </a:r>
            <a:r>
              <a:rPr sz="1400" b="1">
                <a:solidFill>
                  <a:srgbClr val="1F2937"/>
                </a:solidFill>
                <a:latin typeface="Arial"/>
              </a:rPr>
              <a:t>Реакции — </a:t>
            </a:r>
            <a:r>
              <a:rPr sz="1400" b="0">
                <a:solidFill>
                  <a:srgbClr val="1F2937"/>
                </a:solidFill>
                <a:latin typeface="Arial"/>
              </a:rPr>
              <a:t>поиск уравнений: «NaOH+HCl» или «CuSO4» находит реакции с пояснением.</a:t>
            </a:r>
          </a:p>
          <a:p>
            <a:pPr algn="l">
              <a:lnSpc>
                <a:spcPct val="122000"/>
              </a:lnSpc>
            </a:pPr>
            <a:r>
              <a:rPr sz="1400" b="1">
                <a:solidFill>
                  <a:srgbClr val="7C3AED"/>
                </a:solidFill>
                <a:latin typeface="Arial"/>
              </a:rPr>
              <a:t>▸ </a:t>
            </a:r>
            <a:r>
              <a:rPr sz="1400" b="1">
                <a:solidFill>
                  <a:srgbClr val="1F2937"/>
                </a:solidFill>
                <a:latin typeface="Arial"/>
              </a:rPr>
              <a:t>Таблица Менделеева — </a:t>
            </a:r>
            <a:r>
              <a:rPr sz="1400" b="0">
                <a:solidFill>
                  <a:srgbClr val="1F2937"/>
                </a:solidFill>
                <a:latin typeface="Arial"/>
              </a:rPr>
              <a:t>118 элементов; нажатие открывает карточку (масса, конфигурация, степени окисления).</a:t>
            </a:r>
          </a:p>
          <a:p>
            <a:pPr algn="l">
              <a:lnSpc>
                <a:spcPct val="122000"/>
              </a:lnSpc>
            </a:pPr>
            <a:r>
              <a:rPr sz="1400" b="1">
                <a:solidFill>
                  <a:srgbClr val="7C3AED"/>
                </a:solidFill>
                <a:latin typeface="Arial"/>
              </a:rPr>
              <a:t>▸ </a:t>
            </a:r>
            <a:r>
              <a:rPr sz="1400" b="1">
                <a:solidFill>
                  <a:srgbClr val="1F2937"/>
                </a:solidFill>
                <a:latin typeface="Arial"/>
              </a:rPr>
              <a:t>Растворимость — </a:t>
            </a:r>
            <a:r>
              <a:rPr sz="1400" b="0">
                <a:solidFill>
                  <a:srgbClr val="1F2937"/>
                </a:solidFill>
                <a:latin typeface="Arial"/>
              </a:rPr>
              <a:t>таблица «24 катиона × 18 анионов» со значениями в г/100 мл воды.</a:t>
            </a:r>
          </a:p>
          <a:p>
            <a:pPr algn="l">
              <a:lnSpc>
                <a:spcPct val="122000"/>
              </a:lnSpc>
            </a:pPr>
            <a:r>
              <a:rPr sz="1400" b="1">
                <a:solidFill>
                  <a:srgbClr val="7C3AED"/>
                </a:solidFill>
                <a:latin typeface="Arial"/>
              </a:rPr>
              <a:t>▸ </a:t>
            </a:r>
            <a:r>
              <a:rPr sz="1400" b="1">
                <a:solidFill>
                  <a:srgbClr val="1F2937"/>
                </a:solidFill>
                <a:latin typeface="Arial"/>
              </a:rPr>
              <a:t>Молярная масса — </a:t>
            </a:r>
            <a:r>
              <a:rPr sz="1400" b="0">
                <a:solidFill>
                  <a:srgbClr val="1F2937"/>
                </a:solidFill>
                <a:latin typeface="Arial"/>
              </a:rPr>
              <a:t>расчёт по формуле, включая скобки и гидраты: Fe2(SO4)3, CuSO4·5H2O.</a:t>
            </a:r>
          </a:p>
          <a:p>
            <a:pPr algn="l">
              <a:lnSpc>
                <a:spcPct val="122000"/>
              </a:lnSpc>
            </a:pPr>
            <a:r>
              <a:rPr sz="1400" b="1">
                <a:solidFill>
                  <a:srgbClr val="7C3AED"/>
                </a:solidFill>
                <a:latin typeface="Arial"/>
              </a:rPr>
              <a:t>▸ </a:t>
            </a:r>
            <a:r>
              <a:rPr sz="1400" b="1">
                <a:solidFill>
                  <a:srgbClr val="1F2937"/>
                </a:solidFill>
                <a:latin typeface="Arial"/>
              </a:rPr>
              <a:t>Схемы — </a:t>
            </a:r>
            <a:r>
              <a:rPr sz="1400" b="0">
                <a:solidFill>
                  <a:srgbClr val="1F2937"/>
                </a:solidFill>
                <a:latin typeface="Arial"/>
              </a:rPr>
              <a:t>ряд активности металлов, электроотрицательность, потенциалы, кислоты, техника безопасности.</a:t>
            </a:r>
          </a:p>
          <a:p>
            <a:pPr algn="l">
              <a:lnSpc>
                <a:spcPct val="122000"/>
              </a:lnSpc>
            </a:pPr>
            <a:r>
              <a:rPr sz="1400" b="1">
                <a:solidFill>
                  <a:srgbClr val="7C3AED"/>
                </a:solidFill>
                <a:latin typeface="Arial"/>
              </a:rPr>
              <a:t>▸ </a:t>
            </a:r>
            <a:r>
              <a:rPr sz="1400" b="1">
                <a:solidFill>
                  <a:srgbClr val="1F2937"/>
                </a:solidFill>
                <a:latin typeface="Arial"/>
              </a:rPr>
              <a:t>Дневник опытов — </a:t>
            </a:r>
            <a:r>
              <a:rPr sz="1400" b="0">
                <a:solidFill>
                  <a:srgbClr val="1F2937"/>
                </a:solidFill>
                <a:latin typeface="Arial"/>
              </a:rPr>
              <a:t>цель, реактивы, шаги, наблюдения; записи хранятся на устройстве и доступны офлайн.</a:t>
            </a:r>
          </a:p>
          <a:p>
            <a:pPr algn="l">
              <a:lnSpc>
                <a:spcPct val="122000"/>
              </a:lnSpc>
            </a:pPr>
            <a:r>
              <a:rPr sz="1400" b="1">
                <a:solidFill>
                  <a:srgbClr val="7C3AED"/>
                </a:solidFill>
                <a:latin typeface="Arial"/>
              </a:rPr>
              <a:t>▸ </a:t>
            </a:r>
            <a:r>
              <a:rPr sz="1400" b="1">
                <a:solidFill>
                  <a:srgbClr val="1F2937"/>
                </a:solidFill>
                <a:latin typeface="Arial"/>
              </a:rPr>
              <a:t>Настройки — </a:t>
            </a:r>
            <a:r>
              <a:rPr sz="1400" b="0">
                <a:solidFill>
                  <a:srgbClr val="1F2937"/>
                </a:solidFill>
                <a:latin typeface="Arial"/>
              </a:rPr>
              <a:t>тема оформления (тёмная / AMOLED), проверка обновлений, очистка дневника.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0052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Адреса разделов приложения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56940"/>
            <a:ext cx="10820095" cy="116738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Разделы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приложения</a:t>
            </a:r>
            <a:r>
              <a:rPr sz="1200">
                <a:solidFill>
                  <a:srgbClr val="E2E8F0"/>
                </a:solidFill>
                <a:latin typeface="Consolas"/>
              </a:rPr>
              <a:t> (</a:t>
            </a:r>
            <a:r>
              <a:rPr sz="1200">
                <a:solidFill>
                  <a:srgbClr val="93C5FD"/>
                </a:solidFill>
                <a:latin typeface="Consolas"/>
              </a:rPr>
              <a:t>9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экранов</a:t>
            </a:r>
            <a:r>
              <a:rPr sz="1200">
                <a:solidFill>
                  <a:srgbClr val="E2E8F0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/            </a:t>
            </a:r>
            <a:r>
              <a:rPr sz="1200">
                <a:solidFill>
                  <a:srgbClr val="E2E8F0"/>
                </a:solidFill>
                <a:latin typeface="Consolas"/>
              </a:rPr>
              <a:t>Реакции</a:t>
            </a:r>
            <a:r>
              <a:rPr sz="1200">
                <a:solidFill>
                  <a:srgbClr val="E2E8F0"/>
                </a:solidFill>
                <a:latin typeface="Consolas"/>
              </a:rPr>
              <a:t>              /</a:t>
            </a:r>
            <a:r>
              <a:rPr sz="1200">
                <a:solidFill>
                  <a:srgbClr val="E2E8F0"/>
                </a:solidFill>
                <a:latin typeface="Consolas"/>
              </a:rPr>
              <a:t>schemes</a:t>
            </a:r>
            <a:r>
              <a:rPr sz="1200">
                <a:solidFill>
                  <a:srgbClr val="E2E8F0"/>
                </a:solidFill>
                <a:latin typeface="Consolas"/>
              </a:rPr>
              <a:t>     </a:t>
            </a:r>
            <a:r>
              <a:rPr sz="1200">
                <a:solidFill>
                  <a:srgbClr val="E2E8F0"/>
                </a:solidFill>
                <a:latin typeface="Consolas"/>
              </a:rPr>
              <a:t>Схемы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и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справочники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/</a:t>
            </a:r>
            <a:r>
              <a:rPr sz="1200">
                <a:solidFill>
                  <a:srgbClr val="E2E8F0"/>
                </a:solidFill>
                <a:latin typeface="Consolas"/>
              </a:rPr>
              <a:t>table</a:t>
            </a:r>
            <a:r>
              <a:rPr sz="1200">
                <a:solidFill>
                  <a:srgbClr val="E2E8F0"/>
                </a:solidFill>
                <a:latin typeface="Consolas"/>
              </a:rPr>
              <a:t>       </a:t>
            </a:r>
            <a:r>
              <a:rPr sz="1200">
                <a:solidFill>
                  <a:srgbClr val="E2E8F0"/>
                </a:solidFill>
                <a:latin typeface="Consolas"/>
              </a:rPr>
              <a:t>Таблица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Менделеева</a:t>
            </a:r>
            <a:r>
              <a:rPr sz="1200">
                <a:solidFill>
                  <a:srgbClr val="E2E8F0"/>
                </a:solidFill>
                <a:latin typeface="Consolas"/>
              </a:rPr>
              <a:t>   /</a:t>
            </a:r>
            <a:r>
              <a:rPr sz="1200">
                <a:solidFill>
                  <a:srgbClr val="E2E8F0"/>
                </a:solidFill>
                <a:latin typeface="Consolas"/>
              </a:rPr>
              <a:t>journal</a:t>
            </a:r>
            <a:r>
              <a:rPr sz="1200">
                <a:solidFill>
                  <a:srgbClr val="E2E8F0"/>
                </a:solidFill>
                <a:latin typeface="Consolas"/>
              </a:rPr>
              <a:t>     </a:t>
            </a:r>
            <a:r>
              <a:rPr sz="1200">
                <a:solidFill>
                  <a:srgbClr val="E2E8F0"/>
                </a:solidFill>
                <a:latin typeface="Consolas"/>
              </a:rPr>
              <a:t>Дневник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опытов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/</a:t>
            </a:r>
            <a:r>
              <a:rPr sz="1200">
                <a:solidFill>
                  <a:srgbClr val="E2E8F0"/>
                </a:solidFill>
                <a:latin typeface="Consolas"/>
              </a:rPr>
              <a:t>solubility</a:t>
            </a:r>
            <a:r>
              <a:rPr sz="1200">
                <a:solidFill>
                  <a:srgbClr val="E2E8F0"/>
                </a:solidFill>
                <a:latin typeface="Consolas"/>
              </a:rPr>
              <a:t>  </a:t>
            </a:r>
            <a:r>
              <a:rPr sz="1200">
                <a:solidFill>
                  <a:srgbClr val="E2E8F0"/>
                </a:solidFill>
                <a:latin typeface="Consolas"/>
              </a:rPr>
              <a:t>Растворимость</a:t>
            </a:r>
            <a:r>
              <a:rPr sz="1200">
                <a:solidFill>
                  <a:srgbClr val="E2E8F0"/>
                </a:solidFill>
                <a:latin typeface="Consolas"/>
              </a:rPr>
              <a:t>        /</a:t>
            </a:r>
            <a:r>
              <a:rPr sz="1200">
                <a:solidFill>
                  <a:srgbClr val="E2E8F0"/>
                </a:solidFill>
                <a:latin typeface="Consolas"/>
              </a:rPr>
              <a:t>settings</a:t>
            </a:r>
            <a:r>
              <a:rPr sz="1200">
                <a:solidFill>
                  <a:srgbClr val="E2E8F0"/>
                </a:solidFill>
                <a:latin typeface="Consolas"/>
              </a:rPr>
              <a:t>    </a:t>
            </a:r>
            <a:r>
              <a:rPr sz="1200">
                <a:solidFill>
                  <a:srgbClr val="E2E8F0"/>
                </a:solidFill>
                <a:latin typeface="Consolas"/>
              </a:rPr>
              <a:t>Настройки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/</a:t>
            </a:r>
            <a:r>
              <a:rPr sz="1200">
                <a:solidFill>
                  <a:srgbClr val="E2E8F0"/>
                </a:solidFill>
                <a:latin typeface="Consolas"/>
              </a:rPr>
              <a:t>calc</a:t>
            </a:r>
            <a:r>
              <a:rPr sz="1200">
                <a:solidFill>
                  <a:srgbClr val="E2E8F0"/>
                </a:solidFill>
                <a:latin typeface="Consolas"/>
              </a:rPr>
              <a:t>        </a:t>
            </a:r>
            <a:r>
              <a:rPr sz="1200">
                <a:solidFill>
                  <a:srgbClr val="E2E8F0"/>
                </a:solidFill>
                <a:latin typeface="Consolas"/>
              </a:rPr>
              <a:t>Молярная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масса</a:t>
            </a:r>
            <a:r>
              <a:rPr sz="1200">
                <a:solidFill>
                  <a:srgbClr val="E2E8F0"/>
                </a:solidFill>
                <a:latin typeface="Consolas"/>
              </a:rPr>
              <a:t>       /</a:t>
            </a:r>
            <a:r>
              <a:rPr sz="1200">
                <a:solidFill>
                  <a:srgbClr val="E2E8F0"/>
                </a:solidFill>
                <a:latin typeface="Consolas"/>
              </a:rPr>
              <a:t>safety</a:t>
            </a:r>
            <a:r>
              <a:rPr sz="1200">
                <a:solidFill>
                  <a:srgbClr val="E2E8F0"/>
                </a:solidFill>
                <a:latin typeface="Consolas"/>
              </a:rPr>
              <a:t>      </a:t>
            </a:r>
            <a:r>
              <a:rPr sz="1200">
                <a:solidFill>
                  <a:srgbClr val="E2E8F0"/>
                </a:solidFill>
                <a:latin typeface="Consolas"/>
              </a:rPr>
              <a:t>Техника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безопасности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КАК ЭТО ВЫГЛЯДИТ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Приложение на экране телефона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2395728" cy="3611880"/>
          </a:xfrm>
          <a:prstGeom prst="roundRect">
            <a:avLst>
              <a:gd name="adj" fmla="val 5000"/>
            </a:avLst>
          </a:prstGeom>
          <a:solidFill>
            <a:srgbClr val="F7F5FF"/>
          </a:solidFill>
          <a:ln w="19050">
            <a:solidFill>
              <a:srgbClr val="C4B5F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2066544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B6778"/>
                </a:solidFill>
                <a:latin typeface="Arial"/>
              </a:rPr>
              <a:t>сюда вставить скриншот
экран телефона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5175504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3B0F6B"/>
                </a:solidFill>
                <a:latin typeface="Arial"/>
              </a:rPr>
              <a:t>Главный экран: поиск реакций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481328"/>
            <a:ext cx="2395728" cy="3611880"/>
          </a:xfrm>
          <a:prstGeom prst="roundRect">
            <a:avLst>
              <a:gd name="adj" fmla="val 5000"/>
            </a:avLst>
          </a:prstGeom>
          <a:solidFill>
            <a:srgbClr val="F7F5FF"/>
          </a:solidFill>
          <a:ln w="19050">
            <a:solidFill>
              <a:srgbClr val="C4B5F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103120"/>
            <a:ext cx="2066544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B6778"/>
                </a:solidFill>
                <a:latin typeface="Arial"/>
              </a:rPr>
              <a:t>сюда вставить скриншот
экран телефона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5175504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3B0F6B"/>
                </a:solidFill>
                <a:latin typeface="Arial"/>
              </a:rPr>
              <a:t>Таблица Менделеева: масштаб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481328"/>
            <a:ext cx="2395728" cy="3611880"/>
          </a:xfrm>
          <a:prstGeom prst="roundRect">
            <a:avLst>
              <a:gd name="adj" fmla="val 5000"/>
            </a:avLst>
          </a:prstGeom>
          <a:solidFill>
            <a:srgbClr val="F7F5FF"/>
          </a:solidFill>
          <a:ln w="19050">
            <a:solidFill>
              <a:srgbClr val="C4B5F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103120"/>
            <a:ext cx="2066544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B6778"/>
                </a:solidFill>
                <a:latin typeface="Arial"/>
              </a:rPr>
              <a:t>сюда вставить скриншот
экран телефона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5175504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3B0F6B"/>
                </a:solidFill>
                <a:latin typeface="Arial"/>
              </a:rPr>
              <a:t>Растворимость: значения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481328"/>
            <a:ext cx="2395728" cy="3611880"/>
          </a:xfrm>
          <a:prstGeom prst="roundRect">
            <a:avLst>
              <a:gd name="adj" fmla="val 5000"/>
            </a:avLst>
          </a:prstGeom>
          <a:solidFill>
            <a:srgbClr val="F7F5FF"/>
          </a:solidFill>
          <a:ln w="19050">
            <a:solidFill>
              <a:srgbClr val="C4B5F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03120"/>
            <a:ext cx="2066544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B6778"/>
                </a:solidFill>
                <a:latin typeface="Arial"/>
              </a:rPr>
              <a:t>сюда вставить скриншот
экран телефона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5175504"/>
            <a:ext cx="21396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3B0F6B"/>
                </a:solidFill>
                <a:latin typeface="Arial"/>
              </a:rPr>
              <a:t>Дневник опыта: шаги и наблюдения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96128"/>
            <a:ext cx="10820095" cy="661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7C3AED"/>
                </a:solidFill>
                <a:latin typeface="Arial"/>
              </a:rPr>
              <a:t>▸ </a:t>
            </a:r>
            <a:r>
              <a:rPr sz="1250" b="0">
                <a:solidFill>
                  <a:srgbClr val="1F2937"/>
                </a:solidFill>
                <a:latin typeface="Arial"/>
              </a:rPr>
              <a:t>Скриншоты я снимал прямо на телефоне: одновременно кнопки питания и уменьшения громкости.</a:t>
            </a:r>
          </a:p>
          <a:p>
            <a:pPr algn="l">
              <a:lnSpc>
                <a:spcPct val="122000"/>
              </a:lnSpc>
            </a:pPr>
            <a:r>
              <a:rPr sz="1250" b="1">
                <a:solidFill>
                  <a:srgbClr val="7C3AED"/>
                </a:solidFill>
                <a:latin typeface="Arial"/>
              </a:rPr>
              <a:t>▸ </a:t>
            </a:r>
            <a:r>
              <a:rPr sz="1250" b="0">
                <a:solidFill>
                  <a:srgbClr val="1F2937"/>
                </a:solidFill>
                <a:latin typeface="Arial"/>
              </a:rPr>
              <a:t>Вставить: вкладка «Вставка» → «Рисунок», затем наложить снимок на рамку (рамку можно удалить).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ИНСТРУМЕНТЫ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Стек технологий и почему именно 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738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React 19 — </a:t>
            </a:r>
            <a:r>
              <a:rPr sz="1350" b="0">
                <a:solidFill>
                  <a:srgbClr val="1F2937"/>
                </a:solidFill>
                <a:latin typeface="Arial"/>
              </a:rPr>
              <a:t>интерфейс собирается из компонентов, состояние — через хуки (useState, useEffect, useMemo).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Vite — </a:t>
            </a:r>
            <a:r>
              <a:rPr sz="1350" b="0">
                <a:solidFill>
                  <a:srgbClr val="1F2937"/>
                </a:solidFill>
                <a:latin typeface="Arial"/>
              </a:rPr>
              <a:t>сборка и dev-сервер: моментальная перезагрузка при правке кода.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Tailwind CSS — </a:t>
            </a:r>
            <a:r>
              <a:rPr sz="1350" b="0">
                <a:solidFill>
                  <a:srgbClr val="1F2937"/>
                </a:solidFill>
                <a:latin typeface="Arial"/>
              </a:rPr>
              <a:t>стили пишутся классами прямо в разметке; проще держать единый вид на всех экранах.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React Router (HashRouter) — </a:t>
            </a:r>
            <a:r>
              <a:rPr sz="1350" b="0">
                <a:solidFill>
                  <a:srgbClr val="1F2937"/>
                </a:solidFill>
                <a:latin typeface="Arial"/>
              </a:rPr>
              <a:t>переходы между разделами без перезагрузки страницы.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vite-plugin-pwa — </a:t>
            </a:r>
            <a:r>
              <a:rPr sz="1350" b="0">
                <a:solidFill>
                  <a:srgbClr val="1F2937"/>
                </a:solidFill>
                <a:latin typeface="Arial"/>
              </a:rPr>
              <a:t>офлайн-режим и установка приложения из браузера.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Capacitor — </a:t>
            </a:r>
            <a:r>
              <a:rPr sz="1350" b="0">
                <a:solidFill>
                  <a:srgbClr val="1F2937"/>
                </a:solidFill>
                <a:latin typeface="Arial"/>
              </a:rPr>
              <a:t>тот же веб-код упаковывается в APK для Android, вторую версию писать не нужно.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localStorage — </a:t>
            </a:r>
            <a:r>
              <a:rPr sz="1350" b="0">
                <a:solidFill>
                  <a:srgbClr val="1F2937"/>
                </a:solidFill>
                <a:latin typeface="Arial"/>
              </a:rPr>
              <a:t>хранение дневника и настроек на устройстве, без сервера и базы данных.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5822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package.json — реальные зависимости проекта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02710"/>
            <a:ext cx="10820095" cy="2019553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FDD08A"/>
                </a:solidFill>
                <a:latin typeface="Consolas"/>
              </a:rPr>
              <a:t>"dependencies"</a:t>
            </a:r>
            <a:r>
              <a:rPr sz="1150">
                <a:solidFill>
                  <a:srgbClr val="E2E8F0"/>
                </a:solidFill>
                <a:latin typeface="Consolas"/>
              </a:rPr>
              <a:t>: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FDD08A"/>
                </a:solidFill>
                <a:latin typeface="Consolas"/>
              </a:rPr>
              <a:t>"react"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"^19.2.8"</a:t>
            </a:r>
            <a:r>
              <a:rPr sz="1150">
                <a:solidFill>
                  <a:srgbClr val="E2E8F0"/>
                </a:solidFill>
                <a:latin typeface="Consolas"/>
              </a:rPr>
              <a:t>,  </a:t>
            </a:r>
            <a:r>
              <a:rPr sz="1150">
                <a:solidFill>
                  <a:srgbClr val="FDD08A"/>
                </a:solidFill>
                <a:latin typeface="Consolas"/>
              </a:rPr>
              <a:t>"react-dom"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"^19.2.8"</a:t>
            </a:r>
            <a:r>
              <a:rPr sz="11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FDD08A"/>
                </a:solidFill>
                <a:latin typeface="Consolas"/>
              </a:rPr>
              <a:t>"react-router-dom"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"^7.18.4"</a:t>
            </a:r>
            <a:r>
              <a:rPr sz="1150">
                <a:solidFill>
                  <a:srgbClr val="E2E8F0"/>
                </a:solidFill>
                <a:latin typeface="Consolas"/>
              </a:rPr>
              <a:t>,      </a:t>
            </a:r>
            <a:r>
              <a:rPr sz="1150">
                <a:solidFill>
                  <a:srgbClr val="7DD39B"/>
                </a:solidFill>
                <a:latin typeface="Consolas"/>
              </a:rPr>
              <a:t>// навигация по разделам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FDD08A"/>
                </a:solidFill>
                <a:latin typeface="Consolas"/>
              </a:rPr>
              <a:t>"lucide-react"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"^1.47.0"</a:t>
            </a:r>
            <a:r>
              <a:rPr sz="1150">
                <a:solidFill>
                  <a:srgbClr val="E2E8F0"/>
                </a:solidFill>
                <a:latin typeface="Consolas"/>
              </a:rPr>
              <a:t>,          </a:t>
            </a:r>
            <a:r>
              <a:rPr sz="1150">
                <a:solidFill>
                  <a:srgbClr val="7DD39B"/>
                </a:solidFill>
                <a:latin typeface="Consolas"/>
              </a:rPr>
              <a:t>// иконки интерфейса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FDD08A"/>
                </a:solidFill>
                <a:latin typeface="Consolas"/>
              </a:rPr>
              <a:t>"@capacitor/android"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"^8.5.2"</a:t>
            </a:r>
            <a:r>
              <a:rPr sz="1150">
                <a:solidFill>
                  <a:srgbClr val="E2E8F0"/>
                </a:solidFill>
                <a:latin typeface="Consolas"/>
              </a:rPr>
              <a:t>      </a:t>
            </a:r>
            <a:r>
              <a:rPr sz="1150">
                <a:solidFill>
                  <a:srgbClr val="7DD39B"/>
                </a:solidFill>
                <a:latin typeface="Consolas"/>
              </a:rPr>
              <a:t>// сборка APK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FDD08A"/>
                </a:solidFill>
                <a:latin typeface="Consolas"/>
              </a:rPr>
              <a:t>"devDependencies"</a:t>
            </a:r>
            <a:r>
              <a:rPr sz="1150">
                <a:solidFill>
                  <a:srgbClr val="E2E8F0"/>
                </a:solidFill>
                <a:latin typeface="Consolas"/>
              </a:rPr>
              <a:t>: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FDD08A"/>
                </a:solidFill>
                <a:latin typeface="Consolas"/>
              </a:rPr>
              <a:t>"vite"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"^8.3.0"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FDD08A"/>
                </a:solidFill>
                <a:latin typeface="Consolas"/>
              </a:rPr>
              <a:t>"@tailwindcss/vite"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"^4.3.3"</a:t>
            </a:r>
            <a:r>
              <a:rPr sz="11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FDD08A"/>
                </a:solidFill>
                <a:latin typeface="Consolas"/>
              </a:rPr>
              <a:t>"vite-plugin-pwa"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"^1.3.0"</a:t>
            </a:r>
            <a:r>
              <a:rPr sz="1150">
                <a:solidFill>
                  <a:srgbClr val="E2E8F0"/>
                </a:solidFill>
                <a:latin typeface="Consolas"/>
              </a:rPr>
              <a:t>         </a:t>
            </a:r>
            <a:r>
              <a:rPr sz="1150">
                <a:solidFill>
                  <a:srgbClr val="7DD39B"/>
                </a:solidFill>
                <a:latin typeface="Consolas"/>
              </a:rPr>
              <a:t>// офлайн-режим и установка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КАК УСТРОЕНО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Архитектура: что с чем связано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320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0">
                <a:solidFill>
                  <a:srgbClr val="1F2937"/>
                </a:solidFill>
                <a:latin typeface="Arial"/>
              </a:rPr>
              <a:t>Данные лежат отдельно от интерфейса: чтобы добавить элемент или реакцию, код экранов менять не нужно.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0">
                <a:solidFill>
                  <a:srgbClr val="1F2937"/>
                </a:solidFill>
                <a:latin typeface="Arial"/>
              </a:rPr>
              <a:t>Общую логику я вынес в src/lib, чтобы не дублировать её по страницам: работу с дневником используют и список, и карточка опыта.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0">
                <a:solidFill>
                  <a:srgbClr val="1F2937"/>
                </a:solidFill>
                <a:latin typeface="Arial"/>
              </a:rPr>
              <a:t>Компоненты (Layout, ZoomControls, UpdateNotice) — переиспользуемые части интерфейса, они не знают, на каком экране находятся.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37485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Поток данных: данные → разделы → общая логика → устройство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4373"/>
            <a:ext cx="10820095" cy="2282951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</a:t>
            </a:r>
            <a:r>
              <a:rPr sz="1100">
                <a:solidFill>
                  <a:srgbClr val="E2E8F0"/>
                </a:solidFill>
                <a:latin typeface="Consolas"/>
              </a:rPr>
              <a:t>src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  <a:r>
              <a:rPr sz="1100">
                <a:solidFill>
                  <a:srgbClr val="E2E8F0"/>
                </a:solidFill>
                <a:latin typeface="Consolas"/>
              </a:rPr>
              <a:t>data</a:t>
            </a:r>
            <a:r>
              <a:rPr sz="1100">
                <a:solidFill>
                  <a:srgbClr val="E2E8F0"/>
                </a:solidFill>
                <a:latin typeface="Consolas"/>
              </a:rPr>
              <a:t>/*.</a:t>
            </a:r>
            <a:r>
              <a:rPr sz="1100">
                <a:solidFill>
                  <a:srgbClr val="E2E8F0"/>
                </a:solidFill>
                <a:latin typeface="Consolas"/>
              </a:rPr>
              <a:t>js</a:t>
            </a:r>
            <a:r>
              <a:rPr sz="1100">
                <a:solidFill>
                  <a:srgbClr val="E2E8F0"/>
                </a:solidFill>
                <a:latin typeface="Consolas"/>
              </a:rPr>
              <a:t>            </a:t>
            </a:r>
            <a:r>
              <a:rPr sz="1100">
                <a:solidFill>
                  <a:srgbClr val="E2E8F0"/>
                </a:solidFill>
                <a:latin typeface="Consolas"/>
              </a:rPr>
              <a:t>справочные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данные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не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меняются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</a:t>
            </a:r>
            <a:r>
              <a:rPr sz="1100">
                <a:solidFill>
                  <a:srgbClr val="E2E8F0"/>
                </a:solidFill>
                <a:latin typeface="Consolas"/>
              </a:rPr>
              <a:t>элементы</a:t>
            </a:r>
            <a:r>
              <a:rPr sz="1100">
                <a:solidFill>
                  <a:srgbClr val="E2E8F0"/>
                </a:solidFill>
                <a:latin typeface="Consolas"/>
              </a:rPr>
              <a:t> · </a:t>
            </a:r>
            <a:r>
              <a:rPr sz="1100">
                <a:solidFill>
                  <a:srgbClr val="E2E8F0"/>
                </a:solidFill>
                <a:latin typeface="Consolas"/>
              </a:rPr>
              <a:t>реакции</a:t>
            </a:r>
            <a:r>
              <a:rPr sz="1100">
                <a:solidFill>
                  <a:srgbClr val="E2E8F0"/>
                </a:solidFill>
                <a:latin typeface="Consolas"/>
              </a:rPr>
              <a:t> · </a:t>
            </a:r>
            <a:r>
              <a:rPr sz="1100">
                <a:solidFill>
                  <a:srgbClr val="E2E8F0"/>
                </a:solidFill>
                <a:latin typeface="Consolas"/>
              </a:rPr>
              <a:t>растворимость</a:t>
            </a:r>
            <a:r>
              <a:rPr sz="1100">
                <a:solidFill>
                  <a:srgbClr val="E2E8F0"/>
                </a:solidFill>
                <a:latin typeface="Consolas"/>
              </a:rPr>
              <a:t> · </a:t>
            </a:r>
            <a:r>
              <a:rPr sz="1100">
                <a:solidFill>
                  <a:srgbClr val="E2E8F0"/>
                </a:solidFill>
                <a:latin typeface="Consolas"/>
              </a:rPr>
              <a:t>схемы</a:t>
            </a:r>
            <a:r>
              <a:rPr sz="1100">
                <a:solidFill>
                  <a:srgbClr val="E2E8F0"/>
                </a:solidFill>
                <a:latin typeface="Consolas"/>
              </a:rPr>
              <a:t> · </a:t>
            </a:r>
            <a:r>
              <a:rPr sz="1100">
                <a:solidFill>
                  <a:srgbClr val="E2E8F0"/>
                </a:solidFill>
                <a:latin typeface="Consolas"/>
              </a:rPr>
              <a:t>история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версий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│  </a:t>
            </a:r>
            <a:r>
              <a:rPr sz="1100">
                <a:solidFill>
                  <a:srgbClr val="E2E8F0"/>
                </a:solidFill>
                <a:latin typeface="Consolas"/>
              </a:rPr>
              <a:t>импорт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данных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▼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</a:t>
            </a:r>
            <a:r>
              <a:rPr sz="1100">
                <a:solidFill>
                  <a:srgbClr val="E2E8F0"/>
                </a:solidFill>
                <a:latin typeface="Consolas"/>
              </a:rPr>
              <a:t>src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  <a:r>
              <a:rPr sz="1100">
                <a:solidFill>
                  <a:srgbClr val="E2E8F0"/>
                </a:solidFill>
                <a:latin typeface="Consolas"/>
              </a:rPr>
              <a:t>pages</a:t>
            </a:r>
            <a:r>
              <a:rPr sz="1100">
                <a:solidFill>
                  <a:srgbClr val="E2E8F0"/>
                </a:solidFill>
                <a:latin typeface="Consolas"/>
              </a:rPr>
              <a:t>/*.</a:t>
            </a:r>
            <a:r>
              <a:rPr sz="1100">
                <a:solidFill>
                  <a:srgbClr val="E2E8F0"/>
                </a:solidFill>
                <a:latin typeface="Consolas"/>
              </a:rPr>
              <a:t>jsx</a:t>
            </a:r>
            <a:r>
              <a:rPr sz="1100">
                <a:solidFill>
                  <a:srgbClr val="E2E8F0"/>
                </a:solidFill>
                <a:latin typeface="Consolas"/>
              </a:rPr>
              <a:t>          </a:t>
            </a:r>
            <a:r>
              <a:rPr sz="1100">
                <a:solidFill>
                  <a:srgbClr val="E2E8F0"/>
                </a:solidFill>
                <a:latin typeface="Consolas"/>
              </a:rPr>
              <a:t>разделы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Reactions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PeriodicTable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Solubility</a:t>
            </a:r>
            <a:r>
              <a:rPr sz="11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│  ▲                </a:t>
            </a:r>
            <a:r>
              <a:rPr sz="1100">
                <a:solidFill>
                  <a:srgbClr val="E2E8F0"/>
                </a:solidFill>
                <a:latin typeface="Consolas"/>
              </a:rPr>
              <a:t>Calculator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Schemes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Journal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Settings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│  │  </a:t>
            </a:r>
            <a:r>
              <a:rPr sz="1100">
                <a:solidFill>
                  <a:srgbClr val="E2E8F0"/>
                </a:solidFill>
                <a:latin typeface="Consolas"/>
              </a:rPr>
              <a:t>чтение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  <a:r>
              <a:rPr sz="1100">
                <a:solidFill>
                  <a:srgbClr val="E2E8F0"/>
                </a:solidFill>
                <a:latin typeface="Consolas"/>
              </a:rPr>
              <a:t>запись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дневника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и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настроек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▼  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</a:t>
            </a:r>
            <a:r>
              <a:rPr sz="1100">
                <a:solidFill>
                  <a:srgbClr val="E2E8F0"/>
                </a:solidFill>
                <a:latin typeface="Consolas"/>
              </a:rPr>
              <a:t>src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  <a:r>
              <a:rPr sz="1100">
                <a:solidFill>
                  <a:srgbClr val="E2E8F0"/>
                </a:solidFill>
                <a:latin typeface="Consolas"/>
              </a:rPr>
              <a:t>lib</a:t>
            </a:r>
            <a:r>
              <a:rPr sz="1100">
                <a:solidFill>
                  <a:srgbClr val="E2E8F0"/>
                </a:solidFill>
                <a:latin typeface="Consolas"/>
              </a:rPr>
              <a:t>/*.</a:t>
            </a:r>
            <a:r>
              <a:rPr sz="1100">
                <a:solidFill>
                  <a:srgbClr val="E2E8F0"/>
                </a:solidFill>
                <a:latin typeface="Consolas"/>
              </a:rPr>
              <a:t>js</a:t>
            </a:r>
            <a:r>
              <a:rPr sz="1100">
                <a:solidFill>
                  <a:srgbClr val="E2E8F0"/>
                </a:solidFill>
                <a:latin typeface="Consolas"/>
              </a:rPr>
              <a:t>             </a:t>
            </a:r>
            <a:r>
              <a:rPr sz="1100">
                <a:solidFill>
                  <a:srgbClr val="E2E8F0"/>
                </a:solidFill>
                <a:latin typeface="Consolas"/>
              </a:rPr>
              <a:t>общая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логика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storage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localStorage</a:t>
            </a:r>
            <a:r>
              <a:rPr sz="1100">
                <a:solidFill>
                  <a:srgbClr val="E2E8F0"/>
                </a:solidFill>
                <a:latin typeface="Consolas"/>
              </a:rPr>
              <a:t>), </a:t>
            </a:r>
            <a:r>
              <a:rPr sz="1100">
                <a:solidFill>
                  <a:srgbClr val="E2E8F0"/>
                </a:solidFill>
                <a:latin typeface="Consolas"/>
              </a:rPr>
              <a:t>molarMass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│                   (</a:t>
            </a:r>
            <a:r>
              <a:rPr sz="1100">
                <a:solidFill>
                  <a:srgbClr val="E2E8F0"/>
                </a:solidFill>
                <a:latin typeface="Consolas"/>
              </a:rPr>
              <a:t>парсер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формул</a:t>
            </a:r>
            <a:r>
              <a:rPr sz="1100">
                <a:solidFill>
                  <a:srgbClr val="E2E8F0"/>
                </a:solidFill>
                <a:latin typeface="Consolas"/>
              </a:rPr>
              <a:t>), </a:t>
            </a:r>
            <a:r>
              <a:rPr sz="1100">
                <a:solidFill>
                  <a:srgbClr val="E2E8F0"/>
                </a:solidFill>
                <a:latin typeface="Consolas"/>
              </a:rPr>
              <a:t>theme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updates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pwa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▼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</a:t>
            </a:r>
            <a:r>
              <a:rPr sz="1100">
                <a:solidFill>
                  <a:srgbClr val="E2E8F0"/>
                </a:solidFill>
                <a:latin typeface="Consolas"/>
              </a:rPr>
              <a:t>localStorage</a:t>
            </a:r>
            <a:r>
              <a:rPr sz="1100">
                <a:solidFill>
                  <a:srgbClr val="E2E8F0"/>
                </a:solidFill>
                <a:latin typeface="Consolas"/>
              </a:rPr>
              <a:t> · </a:t>
            </a:r>
            <a:r>
              <a:rPr sz="1100">
                <a:solidFill>
                  <a:srgbClr val="E2E8F0"/>
                </a:solidFill>
                <a:latin typeface="Consolas"/>
              </a:rPr>
              <a:t>service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worker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офлайн</a:t>
            </a:r>
            <a:r>
              <a:rPr sz="1100">
                <a:solidFill>
                  <a:srgbClr val="E2E8F0"/>
                </a:solidFill>
                <a:latin typeface="Consolas"/>
              </a:rPr>
              <a:t>) · </a:t>
            </a:r>
            <a:r>
              <a:rPr sz="1100">
                <a:solidFill>
                  <a:srgbClr val="E2E8F0"/>
                </a:solidFill>
                <a:latin typeface="Consolas"/>
              </a:rPr>
              <a:t>Capacitor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сборка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APK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ФАЙЛЫ И ПАПКИ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Структура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6926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0">
                <a:solidFill>
                  <a:srgbClr val="1F2937"/>
                </a:solidFill>
                <a:latin typeface="Arial"/>
              </a:rPr>
              <a:t>Деление по смыслу: данные отдельно, интерфейс отдельно, общая логика отдельно.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0">
                <a:solidFill>
                  <a:srgbClr val="1F2937"/>
                </a:solidFill>
                <a:latin typeface="Arial"/>
              </a:rPr>
              <a:t>Файлы в lib не рисуют интерфейс, а pages не работают с localStorage напрямую — они вызывают функции из lib.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9977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Структура репозитория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56865"/>
            <a:ext cx="10820095" cy="26238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chem-lab-tracker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</a:t>
            </a:r>
            <a:r>
              <a:rPr sz="1100">
                <a:solidFill>
                  <a:srgbClr val="E2E8F0"/>
                </a:solidFill>
                <a:latin typeface="Consolas"/>
              </a:rPr>
              <a:t>src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├── </a:t>
            </a:r>
            <a:r>
              <a:rPr sz="1100">
                <a:solidFill>
                  <a:srgbClr val="E2E8F0"/>
                </a:solidFill>
                <a:latin typeface="Consolas"/>
              </a:rPr>
              <a:t>components</a:t>
            </a:r>
            <a:r>
              <a:rPr sz="1100">
                <a:solidFill>
                  <a:srgbClr val="E2E8F0"/>
                </a:solidFill>
                <a:latin typeface="Consolas"/>
              </a:rPr>
              <a:t>/   </a:t>
            </a:r>
            <a:r>
              <a:rPr sz="1100">
                <a:solidFill>
                  <a:srgbClr val="E2E8F0"/>
                </a:solidFill>
                <a:latin typeface="Consolas"/>
              </a:rPr>
              <a:t>Layout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шапка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и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меню</a:t>
            </a:r>
            <a:r>
              <a:rPr sz="1100">
                <a:solidFill>
                  <a:srgbClr val="E2E8F0"/>
                </a:solidFill>
                <a:latin typeface="Consolas"/>
              </a:rPr>
              <a:t>), </a:t>
            </a:r>
            <a:r>
              <a:rPr sz="1100">
                <a:solidFill>
                  <a:srgbClr val="E2E8F0"/>
                </a:solidFill>
                <a:latin typeface="Consolas"/>
              </a:rPr>
              <a:t>ZoomControls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масштаб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таблиц</a:t>
            </a:r>
            <a:r>
              <a:rPr sz="1100">
                <a:solidFill>
                  <a:srgbClr val="E2E8F0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│                 </a:t>
            </a:r>
            <a:r>
              <a:rPr sz="1100">
                <a:solidFill>
                  <a:srgbClr val="E2E8F0"/>
                </a:solidFill>
                <a:latin typeface="Consolas"/>
              </a:rPr>
              <a:t>UpdateDialog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и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UpdateNotice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окно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и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карточка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обновления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├── </a:t>
            </a:r>
            <a:r>
              <a:rPr sz="1100">
                <a:solidFill>
                  <a:srgbClr val="E2E8F0"/>
                </a:solidFill>
                <a:latin typeface="Consolas"/>
              </a:rPr>
              <a:t>data</a:t>
            </a:r>
            <a:r>
              <a:rPr sz="1100">
                <a:solidFill>
                  <a:srgbClr val="E2E8F0"/>
                </a:solidFill>
                <a:latin typeface="Consolas"/>
              </a:rPr>
              <a:t>/         </a:t>
            </a:r>
            <a:r>
              <a:rPr sz="1100">
                <a:solidFill>
                  <a:srgbClr val="E2E8F0"/>
                </a:solidFill>
                <a:latin typeface="Consolas"/>
              </a:rPr>
              <a:t>chemistry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elements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reactions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schemes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solubility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changelog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├── </a:t>
            </a:r>
            <a:r>
              <a:rPr sz="1100">
                <a:solidFill>
                  <a:srgbClr val="E2E8F0"/>
                </a:solidFill>
                <a:latin typeface="Consolas"/>
              </a:rPr>
              <a:t>lib</a:t>
            </a:r>
            <a:r>
              <a:rPr sz="1100">
                <a:solidFill>
                  <a:srgbClr val="E2E8F0"/>
                </a:solidFill>
                <a:latin typeface="Consolas"/>
              </a:rPr>
              <a:t>/          </a:t>
            </a:r>
            <a:r>
              <a:rPr sz="1100">
                <a:solidFill>
                  <a:srgbClr val="E2E8F0"/>
                </a:solidFill>
                <a:latin typeface="Consolas"/>
              </a:rPr>
              <a:t>storage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molarMass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theme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updates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pwa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appInfo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├── </a:t>
            </a:r>
            <a:r>
              <a:rPr sz="1100">
                <a:solidFill>
                  <a:srgbClr val="E2E8F0"/>
                </a:solidFill>
                <a:latin typeface="Consolas"/>
              </a:rPr>
              <a:t>pages</a:t>
            </a:r>
            <a:r>
              <a:rPr sz="1100">
                <a:solidFill>
                  <a:srgbClr val="E2E8F0"/>
                </a:solidFill>
                <a:latin typeface="Consolas"/>
              </a:rPr>
              <a:t>/        </a:t>
            </a:r>
            <a:r>
              <a:rPr sz="1100">
                <a:solidFill>
                  <a:srgbClr val="E2E8F0"/>
                </a:solidFill>
                <a:latin typeface="Consolas"/>
              </a:rPr>
              <a:t>Reactions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PeriodicTable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Solubility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Calculator</a:t>
            </a:r>
            <a:r>
              <a:rPr sz="11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│                 </a:t>
            </a:r>
            <a:r>
              <a:rPr sz="1100">
                <a:solidFill>
                  <a:srgbClr val="E2E8F0"/>
                </a:solidFill>
                <a:latin typeface="Consolas"/>
              </a:rPr>
              <a:t>Schemes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Journal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Experiment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Settings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Safety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├── </a:t>
            </a:r>
            <a:r>
              <a:rPr sz="1100">
                <a:solidFill>
                  <a:srgbClr val="E2E8F0"/>
                </a:solidFill>
                <a:latin typeface="Consolas"/>
              </a:rPr>
              <a:t>App.jsx</a:t>
            </a:r>
            <a:r>
              <a:rPr sz="1100">
                <a:solidFill>
                  <a:srgbClr val="E2E8F0"/>
                </a:solidFill>
                <a:latin typeface="Consolas"/>
              </a:rPr>
              <a:t>       </a:t>
            </a:r>
            <a:r>
              <a:rPr sz="1100">
                <a:solidFill>
                  <a:srgbClr val="E2E8F0"/>
                </a:solidFill>
                <a:latin typeface="Consolas"/>
              </a:rPr>
              <a:t>маршруты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какой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адрес</a:t>
            </a:r>
            <a:r>
              <a:rPr sz="1100">
                <a:solidFill>
                  <a:srgbClr val="E2E8F0"/>
                </a:solidFill>
                <a:latin typeface="Consolas"/>
              </a:rPr>
              <a:t> — </a:t>
            </a:r>
            <a:r>
              <a:rPr sz="1100">
                <a:solidFill>
                  <a:srgbClr val="E2E8F0"/>
                </a:solidFill>
                <a:latin typeface="Consolas"/>
              </a:rPr>
              <a:t>какой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экран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├── </a:t>
            </a:r>
            <a:r>
              <a:rPr sz="1100">
                <a:solidFill>
                  <a:srgbClr val="E2E8F0"/>
                </a:solidFill>
                <a:latin typeface="Consolas"/>
              </a:rPr>
              <a:t>main.jsx</a:t>
            </a:r>
            <a:r>
              <a:rPr sz="1100">
                <a:solidFill>
                  <a:srgbClr val="E2E8F0"/>
                </a:solidFill>
                <a:latin typeface="Consolas"/>
              </a:rPr>
              <a:t>      </a:t>
            </a:r>
            <a:r>
              <a:rPr sz="1100">
                <a:solidFill>
                  <a:srgbClr val="E2E8F0"/>
                </a:solidFill>
                <a:latin typeface="Consolas"/>
              </a:rPr>
              <a:t>точка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входа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темы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проверка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обновлений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запуск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приложения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│   └── </a:t>
            </a:r>
            <a:r>
              <a:rPr sz="1100">
                <a:solidFill>
                  <a:srgbClr val="E2E8F0"/>
                </a:solidFill>
                <a:latin typeface="Consolas"/>
              </a:rPr>
              <a:t>index.css</a:t>
            </a:r>
            <a:r>
              <a:rPr sz="1100">
                <a:solidFill>
                  <a:srgbClr val="E2E8F0"/>
                </a:solidFill>
                <a:latin typeface="Consolas"/>
              </a:rPr>
              <a:t>     </a:t>
            </a:r>
            <a:r>
              <a:rPr sz="1100">
                <a:solidFill>
                  <a:srgbClr val="E2E8F0"/>
                </a:solidFill>
                <a:latin typeface="Consolas"/>
              </a:rPr>
              <a:t>базовые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стили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тема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CSS-переменные</a:t>
            </a:r>
            <a:r>
              <a:rPr sz="1100">
                <a:solidFill>
                  <a:srgbClr val="E2E8F0"/>
                </a:solidFill>
                <a:latin typeface="Consolas"/>
              </a:rPr>
              <a:t>), </a:t>
            </a:r>
            <a:r>
              <a:rPr sz="1100">
                <a:solidFill>
                  <a:srgbClr val="E2E8F0"/>
                </a:solidFill>
                <a:latin typeface="Consolas"/>
              </a:rPr>
              <a:t>оформление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таблиц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.</a:t>
            </a:r>
            <a:r>
              <a:rPr sz="1100">
                <a:solidFill>
                  <a:srgbClr val="E2E8F0"/>
                </a:solidFill>
                <a:latin typeface="Consolas"/>
              </a:rPr>
              <a:t>github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  <a:r>
              <a:rPr sz="1100">
                <a:solidFill>
                  <a:srgbClr val="E2E8F0"/>
                </a:solidFill>
                <a:latin typeface="Consolas"/>
              </a:rPr>
              <a:t>workflows</a:t>
            </a:r>
            <a:r>
              <a:rPr sz="1100">
                <a:solidFill>
                  <a:srgbClr val="E2E8F0"/>
                </a:solidFill>
                <a:latin typeface="Consolas"/>
              </a:rPr>
              <a:t>/   </a:t>
            </a:r>
            <a:r>
              <a:rPr sz="1100">
                <a:solidFill>
                  <a:srgbClr val="E2E8F0"/>
                </a:solidFill>
                <a:latin typeface="Consolas"/>
              </a:rPr>
              <a:t>deploy.yml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сайт</a:t>
            </a:r>
            <a:r>
              <a:rPr sz="1100">
                <a:solidFill>
                  <a:srgbClr val="E2E8F0"/>
                </a:solidFill>
                <a:latin typeface="Consolas"/>
              </a:rPr>
              <a:t>), </a:t>
            </a:r>
            <a:r>
              <a:rPr sz="1100">
                <a:solidFill>
                  <a:srgbClr val="E2E8F0"/>
                </a:solidFill>
                <a:latin typeface="Consolas"/>
              </a:rPr>
              <a:t>build-apk.yml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сборка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APK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├── </a:t>
            </a:r>
            <a:r>
              <a:rPr sz="1100">
                <a:solidFill>
                  <a:srgbClr val="E2E8F0"/>
                </a:solidFill>
                <a:latin typeface="Consolas"/>
              </a:rPr>
              <a:t>vite.config.js</a:t>
            </a: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E2E8F0"/>
                </a:solidFill>
                <a:latin typeface="Consolas"/>
              </a:rPr>
              <a:t>сборка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PWA-манифест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генерация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version.json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└── </a:t>
            </a:r>
            <a:r>
              <a:rPr sz="1100">
                <a:solidFill>
                  <a:srgbClr val="E2E8F0"/>
                </a:solidFill>
                <a:latin typeface="Consolas"/>
              </a:rPr>
              <a:t>package.json</a:t>
            </a:r>
            <a:r>
              <a:rPr sz="1100">
                <a:solidFill>
                  <a:srgbClr val="E2E8F0"/>
                </a:solidFill>
                <a:latin typeface="Consolas"/>
              </a:rPr>
              <a:t>      </a:t>
            </a:r>
            <a:r>
              <a:rPr sz="1100">
                <a:solidFill>
                  <a:srgbClr val="E2E8F0"/>
                </a:solidFill>
                <a:latin typeface="Consolas"/>
              </a:rPr>
              <a:t>зависимости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и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команды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dev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build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lint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СВЯЗЬ КОМПОНЕНТОВ · src/main.jsx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Точка входа: как запускается приложение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08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Приложение обёрнуто в два «провайдера»: тема и проверка обновлений доступны любому экрану без передачи пропсов вручную.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Порядок обёрток важен: тема снаружи, поэтому применяется раньше, чем отрисуются экраны.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ThemeProvider меняет атрибут data-theme у &lt;html&gt;, а UpdateProvider показывает окно обновления, если вышла новая версия.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registerServiceWorker() до отрисовки: service worker кэширует файлы, и приложение открывается без интернета.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7327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src/main.jsx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4215"/>
            <a:ext cx="10820095" cy="2282951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registerServiceWorker</a:t>
            </a:r>
            <a:r>
              <a:rPr sz="1200">
                <a:solidFill>
                  <a:srgbClr val="E2E8F0"/>
                </a:solidFill>
                <a:latin typeface="Consolas"/>
              </a:rPr>
              <a:t>()          </a:t>
            </a:r>
            <a:r>
              <a:rPr sz="1200">
                <a:solidFill>
                  <a:srgbClr val="7DD39B"/>
                </a:solidFill>
                <a:latin typeface="Consolas"/>
              </a:rPr>
              <a:t>// регистрация service worker — офлайн-режим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createRoot</a:t>
            </a:r>
            <a:r>
              <a:rPr sz="1200">
                <a:solidFill>
                  <a:srgbClr val="E2E8F0"/>
                </a:solidFill>
                <a:latin typeface="Consolas"/>
              </a:rPr>
              <a:t>(</a:t>
            </a:r>
            <a:r>
              <a:rPr sz="1200">
                <a:solidFill>
                  <a:srgbClr val="E2E8F0"/>
                </a:solidFill>
                <a:latin typeface="Consolas"/>
              </a:rPr>
              <a:t>document.getElementById</a:t>
            </a:r>
            <a:r>
              <a:rPr sz="1200">
                <a:solidFill>
                  <a:srgbClr val="E2E8F0"/>
                </a:solidFill>
                <a:latin typeface="Consolas"/>
              </a:rPr>
              <a:t>(</a:t>
            </a:r>
            <a:r>
              <a:rPr sz="1200">
                <a:solidFill>
                  <a:srgbClr val="FDD08A"/>
                </a:solidFill>
                <a:latin typeface="Consolas"/>
              </a:rPr>
              <a:t>'root'</a:t>
            </a:r>
            <a:r>
              <a:rPr sz="1200">
                <a:solidFill>
                  <a:srgbClr val="E2E8F0"/>
                </a:solidFill>
                <a:latin typeface="Consolas"/>
              </a:rPr>
              <a:t>)).</a:t>
            </a:r>
            <a:r>
              <a:rPr sz="1200">
                <a:solidFill>
                  <a:srgbClr val="E2E8F0"/>
                </a:solidFill>
                <a:latin typeface="Consolas"/>
              </a:rPr>
              <a:t>render</a:t>
            </a:r>
            <a:r>
              <a:rPr sz="1200">
                <a:solidFill>
                  <a:srgbClr val="E2E8F0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&lt;</a:t>
            </a:r>
            <a:r>
              <a:rPr sz="1200">
                <a:solidFill>
                  <a:srgbClr val="E2E8F0"/>
                </a:solidFill>
                <a:latin typeface="Consolas"/>
              </a:rPr>
              <a:t>StrictMode</a:t>
            </a:r>
            <a:r>
              <a:rPr sz="12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&lt;</a:t>
            </a:r>
            <a:r>
              <a:rPr sz="1200">
                <a:solidFill>
                  <a:srgbClr val="E2E8F0"/>
                </a:solidFill>
                <a:latin typeface="Consolas"/>
              </a:rPr>
              <a:t>ThemeProvider</a:t>
            </a:r>
            <a:r>
              <a:rPr sz="1200">
                <a:solidFill>
                  <a:srgbClr val="E2E8F0"/>
                </a:solidFill>
                <a:latin typeface="Consolas"/>
              </a:rPr>
              <a:t>&gt;              {/* </a:t>
            </a:r>
            <a:r>
              <a:rPr sz="1200">
                <a:solidFill>
                  <a:srgbClr val="E2E8F0"/>
                </a:solidFill>
                <a:latin typeface="Consolas"/>
              </a:rPr>
              <a:t>тема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E2E8F0"/>
                </a:solidFill>
                <a:latin typeface="Consolas"/>
              </a:rPr>
              <a:t>тёмная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или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AMOLED</a:t>
            </a:r>
            <a:r>
              <a:rPr sz="1200">
                <a:solidFill>
                  <a:srgbClr val="E2E8F0"/>
                </a:solidFill>
                <a:latin typeface="Consolas"/>
              </a:rPr>
              <a:t> */}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  &lt;</a:t>
            </a:r>
            <a:r>
              <a:rPr sz="1200">
                <a:solidFill>
                  <a:srgbClr val="E2E8F0"/>
                </a:solidFill>
                <a:latin typeface="Consolas"/>
              </a:rPr>
              <a:t>UpdateProvider</a:t>
            </a:r>
            <a:r>
              <a:rPr sz="1200">
                <a:solidFill>
                  <a:srgbClr val="E2E8F0"/>
                </a:solidFill>
                <a:latin typeface="Consolas"/>
              </a:rPr>
              <a:t>&gt;           {/* </a:t>
            </a:r>
            <a:r>
              <a:rPr sz="1200">
                <a:solidFill>
                  <a:srgbClr val="E2E8F0"/>
                </a:solidFill>
                <a:latin typeface="Consolas"/>
              </a:rPr>
              <a:t>тихая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проверка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обновлений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при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запуске</a:t>
            </a:r>
            <a:r>
              <a:rPr sz="1200">
                <a:solidFill>
                  <a:srgbClr val="E2E8F0"/>
                </a:solidFill>
                <a:latin typeface="Consolas"/>
              </a:rPr>
              <a:t> */}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    &lt;</a:t>
            </a:r>
            <a:r>
              <a:rPr sz="1200">
                <a:solidFill>
                  <a:srgbClr val="E2E8F0"/>
                </a:solidFill>
                <a:latin typeface="Consolas"/>
              </a:rPr>
              <a:t>App</a:t>
            </a:r>
            <a:r>
              <a:rPr sz="1200">
                <a:solidFill>
                  <a:srgbClr val="E2E8F0"/>
                </a:solidFill>
                <a:latin typeface="Consolas"/>
              </a:rPr>
              <a:t> /&gt;                  {/* </a:t>
            </a:r>
            <a:r>
              <a:rPr sz="1200">
                <a:solidFill>
                  <a:srgbClr val="E2E8F0"/>
                </a:solidFill>
                <a:latin typeface="Consolas"/>
              </a:rPr>
              <a:t>маршруты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и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экраны</a:t>
            </a:r>
            <a:r>
              <a:rPr sz="1200">
                <a:solidFill>
                  <a:srgbClr val="E2E8F0"/>
                </a:solidFill>
                <a:latin typeface="Consolas"/>
              </a:rPr>
              <a:t> */}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  &lt;/</a:t>
            </a:r>
            <a:r>
              <a:rPr sz="1200">
                <a:solidFill>
                  <a:srgbClr val="E2E8F0"/>
                </a:solidFill>
                <a:latin typeface="Consolas"/>
              </a:rPr>
              <a:t>UpdateProvider</a:t>
            </a:r>
            <a:r>
              <a:rPr sz="12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&lt;/</a:t>
            </a:r>
            <a:r>
              <a:rPr sz="1200">
                <a:solidFill>
                  <a:srgbClr val="E2E8F0"/>
                </a:solidFill>
                <a:latin typeface="Consolas"/>
              </a:rPr>
              <a:t>ThemeProvider</a:t>
            </a:r>
            <a:r>
              <a:rPr sz="12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&lt;/</a:t>
            </a:r>
            <a:r>
              <a:rPr sz="1200">
                <a:solidFill>
                  <a:srgbClr val="E2E8F0"/>
                </a:solidFill>
                <a:latin typeface="Consolas"/>
              </a:rPr>
              <a:t>StrictMode</a:t>
            </a:r>
            <a:r>
              <a:rPr sz="1200">
                <a:solidFill>
                  <a:srgbClr val="E2E8F0"/>
                </a:solidFill>
                <a:latin typeface="Consolas"/>
              </a:rPr>
              <a:t>&gt;,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МАРШРУТЫ · src/App.jsx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Навигация между разделами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281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1">
                <a:solidFill>
                  <a:srgbClr val="1F2937"/>
                </a:solidFill>
                <a:latin typeface="Arial"/>
              </a:rPr>
              <a:t>Почему HashRouter: </a:t>
            </a:r>
            <a:r>
              <a:rPr sz="1300" b="0">
                <a:solidFill>
                  <a:srgbClr val="1F2937"/>
                </a:solidFill>
                <a:latin typeface="Arial"/>
              </a:rPr>
              <a:t>адреса выглядят как #/table. Сайт размещён на GitHub Pages, где нельзя настроить сервер: при обычных путях обновление страницы давало бы ошибку 404.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1">
                <a:solidFill>
                  <a:srgbClr val="1F2937"/>
                </a:solidFill>
                <a:latin typeface="Arial"/>
              </a:rPr>
              <a:t>Вложенный маршрут: </a:t>
            </a:r>
            <a:r>
              <a:rPr sz="1300" b="0">
                <a:solidFill>
                  <a:srgbClr val="1F2937"/>
                </a:solidFill>
                <a:latin typeface="Arial"/>
              </a:rPr>
              <a:t>Layout один для всех экранов, поэтому при переходе меняется только содержимое, а меню и шапка не перерисовываются.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1">
                <a:solidFill>
                  <a:srgbClr val="1F2937"/>
                </a:solidFill>
                <a:latin typeface="Arial"/>
              </a:rPr>
              <a:t>Последняя строка со звёздочкой: </a:t>
            </a:r>
            <a:r>
              <a:rPr sz="1300" b="0">
                <a:solidFill>
                  <a:srgbClr val="1F2937"/>
                </a:solidFill>
                <a:latin typeface="Arial"/>
              </a:rPr>
              <a:t>неизвестный адрес уводит на главный экран вместо пустой страницы.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8750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src/App.jsx — карта приложения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45638"/>
            <a:ext cx="10820095" cy="291045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&lt;</a:t>
            </a:r>
            <a:r>
              <a:rPr sz="1150">
                <a:solidFill>
                  <a:srgbClr val="E2E8F0"/>
                </a:solidFill>
                <a:latin typeface="Consolas"/>
              </a:rPr>
              <a:t>HashRouter</a:t>
            </a:r>
            <a:r>
              <a:rPr sz="115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Routes</a:t>
            </a:r>
            <a:r>
              <a:rPr sz="115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Layout</a:t>
            </a:r>
            <a:r>
              <a:rPr sz="1150">
                <a:solidFill>
                  <a:srgbClr val="E2E8F0"/>
                </a:solidFill>
                <a:latin typeface="Consolas"/>
              </a:rPr>
              <a:t> /&gt;}&gt;              {/* </a:t>
            </a:r>
            <a:r>
              <a:rPr sz="1150">
                <a:solidFill>
                  <a:srgbClr val="E2E8F0"/>
                </a:solidFill>
                <a:latin typeface="Consolas"/>
              </a:rPr>
              <a:t>общий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каркас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для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всех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экранов</a:t>
            </a:r>
            <a:r>
              <a:rPr sz="1150">
                <a:solidFill>
                  <a:srgbClr val="E2E8F0"/>
                </a:solidFill>
                <a:latin typeface="Consolas"/>
              </a:rPr>
              <a:t> */}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index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Reactions</a:t>
            </a:r>
            <a:r>
              <a:rPr sz="1150">
                <a:solidFill>
                  <a:srgbClr val="E2E8F0"/>
                </a:solidFill>
                <a:latin typeface="Consolas"/>
              </a:rPr>
              <a:t> /&gt;} 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path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"table"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PeriodicTable</a:t>
            </a:r>
            <a:r>
              <a:rPr sz="1150">
                <a:solidFill>
                  <a:srgbClr val="E2E8F0"/>
                </a:solidFill>
                <a:latin typeface="Consolas"/>
              </a:rPr>
              <a:t> /&gt;} 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path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"solubility"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Solubility</a:t>
            </a:r>
            <a:r>
              <a:rPr sz="1150">
                <a:solidFill>
                  <a:srgbClr val="E2E8F0"/>
                </a:solidFill>
                <a:latin typeface="Consolas"/>
              </a:rPr>
              <a:t> /&gt;} 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path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"calc"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Calculator</a:t>
            </a:r>
            <a:r>
              <a:rPr sz="1150">
                <a:solidFill>
                  <a:srgbClr val="E2E8F0"/>
                </a:solidFill>
                <a:latin typeface="Consolas"/>
              </a:rPr>
              <a:t> /&gt;} 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path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"schemes"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Schemes</a:t>
            </a:r>
            <a:r>
              <a:rPr sz="1150">
                <a:solidFill>
                  <a:srgbClr val="E2E8F0"/>
                </a:solidFill>
                <a:latin typeface="Consolas"/>
              </a:rPr>
              <a:t> /&gt;} 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path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"journal"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Journal</a:t>
            </a:r>
            <a:r>
              <a:rPr sz="1150">
                <a:solidFill>
                  <a:srgbClr val="E2E8F0"/>
                </a:solidFill>
                <a:latin typeface="Consolas"/>
              </a:rPr>
              <a:t> /&gt;} 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path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"settings"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Settings</a:t>
            </a:r>
            <a:r>
              <a:rPr sz="1150">
                <a:solidFill>
                  <a:srgbClr val="E2E8F0"/>
                </a:solidFill>
                <a:latin typeface="Consolas"/>
              </a:rPr>
              <a:t> /&gt;} 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path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"install"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Navigate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to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"/settings"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replace</a:t>
            </a:r>
            <a:r>
              <a:rPr sz="1150">
                <a:solidFill>
                  <a:srgbClr val="E2E8F0"/>
                </a:solidFill>
                <a:latin typeface="Consolas"/>
              </a:rPr>
              <a:t> /&gt;} 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&lt;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path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"*"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element</a:t>
            </a:r>
            <a:r>
              <a:rPr sz="1150">
                <a:solidFill>
                  <a:srgbClr val="E2E8F0"/>
                </a:solidFill>
                <a:latin typeface="Consolas"/>
              </a:rPr>
              <a:t>={&lt;</a:t>
            </a:r>
            <a:r>
              <a:rPr sz="1150">
                <a:solidFill>
                  <a:srgbClr val="E2E8F0"/>
                </a:solidFill>
                <a:latin typeface="Consolas"/>
              </a:rPr>
              <a:t>Navigate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to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"/"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replace</a:t>
            </a:r>
            <a:r>
              <a:rPr sz="1150">
                <a:solidFill>
                  <a:srgbClr val="E2E8F0"/>
                </a:solidFill>
                <a:latin typeface="Consolas"/>
              </a:rPr>
              <a:t> /&gt;} /&gt;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&lt;/</a:t>
            </a:r>
            <a:r>
              <a:rPr sz="1150">
                <a:solidFill>
                  <a:srgbClr val="E2E8F0"/>
                </a:solidFill>
                <a:latin typeface="Consolas"/>
              </a:rPr>
              <a:t>Route</a:t>
            </a:r>
            <a:r>
              <a:rPr sz="115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&lt;/</a:t>
            </a:r>
            <a:r>
              <a:rPr sz="1150">
                <a:solidFill>
                  <a:srgbClr val="E2E8F0"/>
                </a:solidFill>
                <a:latin typeface="Consolas"/>
              </a:rPr>
              <a:t>Routes</a:t>
            </a:r>
            <a:r>
              <a:rPr sz="115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&lt;/</a:t>
            </a:r>
            <a:r>
              <a:rPr sz="1150">
                <a:solidFill>
                  <a:srgbClr val="E2E8F0"/>
                </a:solidFill>
                <a:latin typeface="Consolas"/>
              </a:rPr>
              <a:t>HashRouter</a:t>
            </a:r>
            <a:r>
              <a:rPr sz="1150">
                <a:solidFill>
                  <a:srgbClr val="E2E8F0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СВЯЗЬ LAYOUT И ЭКРАНОВ · src/components/Layout.jsx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Каркас интерфейса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08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Outlet — это «окно», в которое подставляется открытый раздел: сам Layout ничего не знает о содержимом экранов.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Меню закреплено снизу — на телефоне до него удобно дотянуться большим пальцем.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env(safe-area-inset-bottom) — системный отступ для полосы жестов на iPhone, чтобы меню не перекрывалось.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NavLink сам знает, активен ли раздел, поэтому не пришлось писать своё состояние «какая вкладка выбрана».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7327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src/components/Layout.jsx (сокращённо)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4215"/>
            <a:ext cx="10820095" cy="26238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</a:t>
            </a:r>
            <a:r>
              <a:rPr sz="1100">
                <a:solidFill>
                  <a:srgbClr val="E2E8F0"/>
                </a:solidFill>
                <a:latin typeface="Consolas"/>
              </a:rPr>
              <a:t>main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className</a:t>
            </a:r>
            <a:r>
              <a:rPr sz="1100">
                <a:solidFill>
                  <a:srgbClr val="E2E8F0"/>
                </a:solidFill>
                <a:latin typeface="Consolas"/>
              </a:rPr>
              <a:t>=</a:t>
            </a:r>
            <a:r>
              <a:rPr sz="1100">
                <a:solidFill>
                  <a:srgbClr val="FDD08A"/>
                </a:solidFill>
                <a:latin typeface="Consolas"/>
              </a:rPr>
              <a:t>"flex-1 overflow-y-auto px-4 pb-28"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&lt;</a:t>
            </a:r>
            <a:r>
              <a:rPr sz="1100">
                <a:solidFill>
                  <a:srgbClr val="E2E8F0"/>
                </a:solidFill>
                <a:latin typeface="Consolas"/>
              </a:rPr>
              <a:t>Outlet</a:t>
            </a:r>
            <a:r>
              <a:rPr sz="1100">
                <a:solidFill>
                  <a:srgbClr val="E2E8F0"/>
                </a:solidFill>
                <a:latin typeface="Consolas"/>
              </a:rPr>
              <a:t> /&gt;          {/* </a:t>
            </a:r>
            <a:r>
              <a:rPr sz="1100">
                <a:solidFill>
                  <a:srgbClr val="E2E8F0"/>
                </a:solidFill>
                <a:latin typeface="Consolas"/>
              </a:rPr>
              <a:t>сюда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React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Router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подставляет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текущий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раздел</a:t>
            </a:r>
            <a:r>
              <a:rPr sz="1100">
                <a:solidFill>
                  <a:srgbClr val="E2E8F0"/>
                </a:solidFill>
                <a:latin typeface="Consolas"/>
              </a:rPr>
              <a:t> */}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&lt;/</a:t>
            </a:r>
            <a:r>
              <a:rPr sz="1100">
                <a:solidFill>
                  <a:srgbClr val="E2E8F0"/>
                </a:solidFill>
                <a:latin typeface="Consolas"/>
              </a:rPr>
              <a:t>main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</a:t>
            </a:r>
            <a:r>
              <a:rPr sz="1100">
                <a:solidFill>
                  <a:srgbClr val="E2E8F0"/>
                </a:solidFill>
                <a:latin typeface="Consolas"/>
              </a:rPr>
              <a:t>nav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className</a:t>
            </a:r>
            <a:r>
              <a:rPr sz="1100">
                <a:solidFill>
                  <a:srgbClr val="E2E8F0"/>
                </a:solidFill>
                <a:latin typeface="Consolas"/>
              </a:rPr>
              <a:t>=</a:t>
            </a:r>
            <a:r>
              <a:rPr sz="1100">
                <a:solidFill>
                  <a:srgbClr val="FDD08A"/>
                </a:solidFill>
                <a:latin typeface="Consolas"/>
              </a:rPr>
              <a:t>"app-bar fixed bottom-0 left-0 right-0"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</a:t>
            </a:r>
            <a:r>
              <a:rPr sz="1100">
                <a:solidFill>
                  <a:srgbClr val="E2E8F0"/>
                </a:solidFill>
                <a:latin typeface="Consolas"/>
              </a:rPr>
              <a:t>style</a:t>
            </a:r>
            <a:r>
              <a:rPr sz="1100">
                <a:solidFill>
                  <a:srgbClr val="E2E8F0"/>
                </a:solidFill>
                <a:latin typeface="Consolas"/>
              </a:rPr>
              <a:t>={{ </a:t>
            </a:r>
            <a:r>
              <a:rPr sz="1100">
                <a:solidFill>
                  <a:srgbClr val="E2E8F0"/>
                </a:solidFill>
                <a:latin typeface="Consolas"/>
              </a:rPr>
              <a:t>paddingBottom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FDD08A"/>
                </a:solidFill>
                <a:latin typeface="Consolas"/>
              </a:rPr>
              <a:t>'max(0.35rem, env(safe-area-inset-bottom))'</a:t>
            </a:r>
            <a:r>
              <a:rPr sz="1100">
                <a:solidFill>
                  <a:srgbClr val="E2E8F0"/>
                </a:solidFill>
                <a:latin typeface="Consolas"/>
              </a:rPr>
              <a:t> }}&gt;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&lt;</a:t>
            </a:r>
            <a:r>
              <a:rPr sz="1100">
                <a:solidFill>
                  <a:srgbClr val="E2E8F0"/>
                </a:solidFill>
                <a:latin typeface="Consolas"/>
              </a:rPr>
              <a:t>div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className</a:t>
            </a:r>
            <a:r>
              <a:rPr sz="1100">
                <a:solidFill>
                  <a:srgbClr val="E2E8F0"/>
                </a:solidFill>
                <a:latin typeface="Consolas"/>
              </a:rPr>
              <a:t>=</a:t>
            </a:r>
            <a:r>
              <a:rPr sz="1100">
                <a:solidFill>
                  <a:srgbClr val="FDD08A"/>
                </a:solidFill>
                <a:latin typeface="Consolas"/>
              </a:rPr>
              <a:t>"grid grid-cols-5"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{</a:t>
            </a:r>
            <a:r>
              <a:rPr sz="1100">
                <a:solidFill>
                  <a:srgbClr val="E2E8F0"/>
                </a:solidFill>
                <a:latin typeface="Consolas"/>
              </a:rPr>
              <a:t>tabs.map</a:t>
            </a:r>
            <a:r>
              <a:rPr sz="1100">
                <a:solidFill>
                  <a:srgbClr val="E2E8F0"/>
                </a:solidFill>
                <a:latin typeface="Consolas"/>
              </a:rPr>
              <a:t>(({ </a:t>
            </a:r>
            <a:r>
              <a:rPr sz="1100">
                <a:solidFill>
                  <a:srgbClr val="E2E8F0"/>
                </a:solidFill>
                <a:latin typeface="Consolas"/>
              </a:rPr>
              <a:t>to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icon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Icon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label</a:t>
            </a:r>
            <a:r>
              <a:rPr sz="1100">
                <a:solidFill>
                  <a:srgbClr val="E2E8F0"/>
                </a:solidFill>
                <a:latin typeface="Consolas"/>
              </a:rPr>
              <a:t> }) =&gt;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&lt;</a:t>
            </a:r>
            <a:r>
              <a:rPr sz="1100">
                <a:solidFill>
                  <a:srgbClr val="E2E8F0"/>
                </a:solidFill>
                <a:latin typeface="Consolas"/>
              </a:rPr>
              <a:t>NavLink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to</a:t>
            </a:r>
            <a:r>
              <a:rPr sz="1100">
                <a:solidFill>
                  <a:srgbClr val="E2E8F0"/>
                </a:solidFill>
                <a:latin typeface="Consolas"/>
              </a:rPr>
              <a:t>={</a:t>
            </a:r>
            <a:r>
              <a:rPr sz="1100">
                <a:solidFill>
                  <a:srgbClr val="E2E8F0"/>
                </a:solidFill>
                <a:latin typeface="Consolas"/>
              </a:rPr>
              <a:t>to</a:t>
            </a:r>
            <a:r>
              <a:rPr sz="1100">
                <a:solidFill>
                  <a:srgbClr val="E2E8F0"/>
                </a:solidFill>
                <a:latin typeface="Consolas"/>
              </a:rPr>
              <a:t>} </a:t>
            </a:r>
            <a:r>
              <a:rPr sz="1100">
                <a:solidFill>
                  <a:srgbClr val="E2E8F0"/>
                </a:solidFill>
                <a:latin typeface="Consolas"/>
              </a:rPr>
              <a:t>className</a:t>
            </a:r>
            <a:r>
              <a:rPr sz="1100">
                <a:solidFill>
                  <a:srgbClr val="E2E8F0"/>
                </a:solidFill>
                <a:latin typeface="Consolas"/>
              </a:rPr>
              <a:t>={({ </a:t>
            </a:r>
            <a:r>
              <a:rPr sz="1100">
                <a:solidFill>
                  <a:srgbClr val="E2E8F0"/>
                </a:solidFill>
                <a:latin typeface="Consolas"/>
              </a:rPr>
              <a:t>isActive</a:t>
            </a:r>
            <a:r>
              <a:rPr sz="1100">
                <a:solidFill>
                  <a:srgbClr val="E2E8F0"/>
                </a:solidFill>
                <a:latin typeface="Consolas"/>
              </a:rPr>
              <a:t> }) =&gt; </a:t>
            </a:r>
            <a:r>
              <a:rPr sz="1100">
                <a:solidFill>
                  <a:srgbClr val="E2E8F0"/>
                </a:solidFill>
                <a:latin typeface="Consolas"/>
              </a:rPr>
              <a:t>isActive</a:t>
            </a:r>
            <a:r>
              <a:rPr sz="1100">
                <a:solidFill>
                  <a:srgbClr val="E2E8F0"/>
                </a:solidFill>
                <a:latin typeface="Consolas"/>
              </a:rPr>
              <a:t> ? </a:t>
            </a:r>
            <a:r>
              <a:rPr sz="1100">
                <a:solidFill>
                  <a:srgbClr val="FDD08A"/>
                </a:solidFill>
                <a:latin typeface="Consolas"/>
              </a:rPr>
              <a:t>'active'</a:t>
            </a:r>
            <a:r>
              <a:rPr sz="1100">
                <a:solidFill>
                  <a:srgbClr val="E2E8F0"/>
                </a:solidFill>
                <a:latin typeface="Consolas"/>
              </a:rPr>
              <a:t> : </a:t>
            </a:r>
            <a:r>
              <a:rPr sz="1100">
                <a:solidFill>
                  <a:srgbClr val="FDD08A"/>
                </a:solidFill>
                <a:latin typeface="Consolas"/>
              </a:rPr>
              <a:t>''</a:t>
            </a:r>
            <a:r>
              <a:rPr sz="1100">
                <a:solidFill>
                  <a:srgbClr val="E2E8F0"/>
                </a:solidFill>
                <a:latin typeface="Consolas"/>
              </a:rPr>
              <a:t>}&gt;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  &lt;</a:t>
            </a:r>
            <a:r>
              <a:rPr sz="1100">
                <a:solidFill>
                  <a:srgbClr val="E2E8F0"/>
                </a:solidFill>
                <a:latin typeface="Consolas"/>
              </a:rPr>
              <a:t>Icon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size</a:t>
            </a:r>
            <a:r>
              <a:rPr sz="1100">
                <a:solidFill>
                  <a:srgbClr val="E2E8F0"/>
                </a:solidFill>
                <a:latin typeface="Consolas"/>
              </a:rPr>
              <a:t>={</a:t>
            </a:r>
            <a:r>
              <a:rPr sz="1100">
                <a:solidFill>
                  <a:srgbClr val="93C5FD"/>
                </a:solidFill>
                <a:latin typeface="Consolas"/>
              </a:rPr>
              <a:t>22</a:t>
            </a:r>
            <a:r>
              <a:rPr sz="1100">
                <a:solidFill>
                  <a:srgbClr val="E2E8F0"/>
                </a:solidFill>
                <a:latin typeface="Consolas"/>
              </a:rPr>
              <a:t>} /&gt; &lt;</a:t>
            </a:r>
            <a:r>
              <a:rPr sz="1100">
                <a:solidFill>
                  <a:srgbClr val="E2E8F0"/>
                </a:solidFill>
                <a:latin typeface="Consolas"/>
              </a:rPr>
              <a:t>span</a:t>
            </a:r>
            <a:r>
              <a:rPr sz="1100">
                <a:solidFill>
                  <a:srgbClr val="E2E8F0"/>
                </a:solidFill>
                <a:latin typeface="Consolas"/>
              </a:rPr>
              <a:t>&gt;{</a:t>
            </a:r>
            <a:r>
              <a:rPr sz="1100">
                <a:solidFill>
                  <a:srgbClr val="E2E8F0"/>
                </a:solidFill>
                <a:latin typeface="Consolas"/>
              </a:rPr>
              <a:t>label</a:t>
            </a:r>
            <a:r>
              <a:rPr sz="1100">
                <a:solidFill>
                  <a:srgbClr val="E2E8F0"/>
                </a:solidFill>
                <a:latin typeface="Consolas"/>
              </a:rPr>
              <a:t>}&lt;/</a:t>
            </a:r>
            <a:r>
              <a:rPr sz="1100">
                <a:solidFill>
                  <a:srgbClr val="E2E8F0"/>
                </a:solidFill>
                <a:latin typeface="Consolas"/>
              </a:rPr>
              <a:t>span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&lt;/</a:t>
            </a:r>
            <a:r>
              <a:rPr sz="1100">
                <a:solidFill>
                  <a:srgbClr val="E2E8F0"/>
                </a:solidFill>
                <a:latin typeface="Consolas"/>
              </a:rPr>
              <a:t>NavLink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))}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&lt;/</a:t>
            </a:r>
            <a:r>
              <a:rPr sz="1100">
                <a:solidFill>
                  <a:srgbClr val="E2E8F0"/>
                </a:solidFill>
                <a:latin typeface="Consolas"/>
              </a:rPr>
              <a:t>div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&lt;/</a:t>
            </a:r>
            <a:r>
              <a:rPr sz="1100">
                <a:solidFill>
                  <a:srgbClr val="E2E8F0"/>
                </a:solidFill>
                <a:latin typeface="Consolas"/>
              </a:rPr>
              <a:t>nav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СВЯЗЬ ДАННЫХ И ИНТЕРФЕЙСА · src/data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Данные: откуда приложение берёт информацию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281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Данные я держу в отдельных файлах: их легко дополнять и проверять, а интерфейс от них не зависит.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Поле cat связывает элемент с категорией: из неё берётся цвет клетки в таблице и подпись в легенде.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Поле reagents со «обычными» цифрами (H2O) добавлено специально — по нему поиск работает, даже если пользователь не вводит индексы.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Всего в приложении: 118 элементов, 40 реакций, таблица растворимости 24 × 18, а также ряды и справочные схемы.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8750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Формат записей: обычные JS-объекты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45638"/>
            <a:ext cx="10820095" cy="2019553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DD39B"/>
                </a:solidFill>
                <a:latin typeface="Consolas"/>
              </a:rPr>
              <a:t>// src/data/elements.js — один элемент справочника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{ </a:t>
            </a:r>
            <a:r>
              <a:rPr sz="1150">
                <a:solidFill>
                  <a:srgbClr val="E2E8F0"/>
                </a:solidFill>
                <a:latin typeface="Consolas"/>
              </a:rPr>
              <a:t>z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93C5FD"/>
                </a:solidFill>
                <a:latin typeface="Consolas"/>
              </a:rPr>
              <a:t>29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E2E8F0"/>
                </a:solidFill>
                <a:latin typeface="Consolas"/>
              </a:rPr>
              <a:t>sym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'Cu'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C4B5FD"/>
                </a:solidFill>
                <a:latin typeface="Consolas"/>
              </a:rPr>
              <a:t>name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'Медь'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E2E8F0"/>
                </a:solidFill>
                <a:latin typeface="Consolas"/>
              </a:rPr>
              <a:t>mass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93C5FD"/>
                </a:solidFill>
                <a:latin typeface="Consolas"/>
              </a:rPr>
              <a:t>63.546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E2E8F0"/>
                </a:solidFill>
                <a:latin typeface="Consolas"/>
              </a:rPr>
              <a:t>period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93C5FD"/>
                </a:solidFill>
                <a:latin typeface="Consolas"/>
              </a:rPr>
              <a:t>4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E2E8F0"/>
                </a:solidFill>
                <a:latin typeface="Consolas"/>
              </a:rPr>
              <a:t>group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93C5FD"/>
                </a:solidFill>
                <a:latin typeface="Consolas"/>
              </a:rPr>
              <a:t>11</a:t>
            </a:r>
            <a:r>
              <a:rPr sz="11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E2E8F0"/>
                </a:solidFill>
                <a:latin typeface="Consolas"/>
              </a:rPr>
              <a:t>cat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'transition'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E2E8F0"/>
                </a:solidFill>
                <a:latin typeface="Consolas"/>
              </a:rPr>
              <a:t>electron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'3d¹⁰ 4s¹'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E2E8F0"/>
                </a:solidFill>
                <a:latin typeface="Consolas"/>
              </a:rPr>
              <a:t>oxidation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'+1, +2'</a:t>
            </a:r>
            <a:r>
              <a:rPr sz="1150">
                <a:solidFill>
                  <a:srgbClr val="E2E8F0"/>
                </a:solidFill>
                <a:latin typeface="Consolas"/>
              </a:rPr>
              <a:t>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DD39B"/>
                </a:solidFill>
                <a:latin typeface="Consolas"/>
              </a:rPr>
              <a:t>// src/data/reactions.js — одна реакция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{ </a:t>
            </a:r>
            <a:r>
              <a:rPr sz="1150">
                <a:solidFill>
                  <a:srgbClr val="E2E8F0"/>
                </a:solidFill>
                <a:latin typeface="Consolas"/>
              </a:rPr>
              <a:t>id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'naoh-hcl'</a:t>
            </a:r>
            <a:r>
              <a:rPr sz="11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E2E8F0"/>
                </a:solidFill>
                <a:latin typeface="Consolas"/>
              </a:rPr>
              <a:t>eq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'NaOH + HCl → NaCl + H₂O'</a:t>
            </a:r>
            <a:r>
              <a:rPr sz="11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E2E8F0"/>
                </a:solidFill>
                <a:latin typeface="Consolas"/>
              </a:rPr>
              <a:t>type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'обмен'</a:t>
            </a:r>
            <a:r>
              <a:rPr sz="11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E2E8F0"/>
                </a:solidFill>
                <a:latin typeface="Consolas"/>
              </a:rPr>
              <a:t>reagents</a:t>
            </a:r>
            <a:r>
              <a:rPr sz="1150">
                <a:solidFill>
                  <a:srgbClr val="E2E8F0"/>
                </a:solidFill>
                <a:latin typeface="Consolas"/>
              </a:rPr>
              <a:t>: [</a:t>
            </a:r>
            <a:r>
              <a:rPr sz="1150">
                <a:solidFill>
                  <a:srgbClr val="FDD08A"/>
                </a:solidFill>
                <a:latin typeface="Consolas"/>
              </a:rPr>
              <a:t>'NaOH'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FDD08A"/>
                </a:solidFill>
                <a:latin typeface="Consolas"/>
              </a:rPr>
              <a:t>'HCl'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FDD08A"/>
                </a:solidFill>
                <a:latin typeface="Consolas"/>
              </a:rPr>
              <a:t>'NaCl'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FDD08A"/>
                </a:solidFill>
                <a:latin typeface="Consolas"/>
              </a:rPr>
              <a:t>'H2O'</a:t>
            </a:r>
            <a:r>
              <a:rPr sz="1150">
                <a:solidFill>
                  <a:srgbClr val="E2E8F0"/>
                </a:solidFill>
                <a:latin typeface="Consolas"/>
              </a:rPr>
              <a:t>],       </a:t>
            </a:r>
            <a:r>
              <a:rPr sz="1150">
                <a:solidFill>
                  <a:srgbClr val="7DD39B"/>
                </a:solidFill>
                <a:latin typeface="Consolas"/>
              </a:rPr>
              <a:t>// по этому полю идёт поиск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E2E8F0"/>
                </a:solidFill>
                <a:latin typeface="Consolas"/>
              </a:rPr>
              <a:t>note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FDD08A"/>
                </a:solidFill>
                <a:latin typeface="Consolas"/>
              </a:rPr>
              <a:t>'Нейтрализация: щёлочь + кислота → соль + вода.'</a:t>
            </a:r>
            <a:r>
              <a:rPr sz="1150">
                <a:solidFill>
                  <a:srgbClr val="E2E8F0"/>
                </a:solidFill>
                <a:latin typeface="Consolas"/>
              </a:rPr>
              <a:t>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ЛОГИКА + ДАННЫЕ · src/data/reactions.js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Как работает поиск реакций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08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Пользователь может ввести «H2O», «H₂O», «NaOH+HCl» или «CuSO4» — всё приводится к одному виду.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Индексы (₂, ₃) заменяются обычными цифрами, поэтому индекс в запросе можно не набирать.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Запрос делится по «+», «→», «=»: приложение ищет уравнение, в котором встречаются все указанные вещества.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Данных немного (40 реакций), поэтому поиск идёт простым перебором — результат мгновенный, база данных не нужна.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7327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src/data/reactions.js — функция searchReactions (сокращённый фрагмент)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4215"/>
            <a:ext cx="10820095" cy="2678049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4B5FD"/>
                </a:solidFill>
                <a:latin typeface="Consolas"/>
              </a:rPr>
              <a:t>export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C4B5FD"/>
                </a:solidFill>
                <a:latin typeface="Consolas"/>
              </a:rPr>
              <a:t>function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searchReactions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query</a:t>
            </a:r>
            <a:r>
              <a:rPr sz="1050">
                <a:solidFill>
                  <a:srgbClr val="E2E8F0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C4B5FD"/>
                </a:solidFill>
                <a:latin typeface="Consolas"/>
              </a:rPr>
              <a:t>const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q</a:t>
            </a:r>
            <a:r>
              <a:rPr sz="1050">
                <a:solidFill>
                  <a:srgbClr val="E2E8F0"/>
                </a:solidFill>
                <a:latin typeface="Consolas"/>
              </a:rPr>
              <a:t> = </a:t>
            </a:r>
            <a:r>
              <a:rPr sz="1050">
                <a:solidFill>
                  <a:srgbClr val="E2E8F0"/>
                </a:solidFill>
                <a:latin typeface="Consolas"/>
              </a:rPr>
              <a:t>query.trim</a:t>
            </a:r>
            <a:r>
              <a:rPr sz="1050">
                <a:solidFill>
                  <a:srgbClr val="E2E8F0"/>
                </a:solidFill>
                <a:latin typeface="Consolas"/>
              </a:rPr>
              <a:t>().</a:t>
            </a:r>
            <a:r>
              <a:rPr sz="1050">
                <a:solidFill>
                  <a:srgbClr val="E2E8F0"/>
                </a:solidFill>
                <a:latin typeface="Consolas"/>
              </a:rPr>
              <a:t>toLowerCase</a:t>
            </a:r>
            <a:r>
              <a:rPr sz="1050">
                <a:solidFill>
                  <a:srgbClr val="E2E8F0"/>
                </a:solidFill>
                <a:latin typeface="Consolas"/>
              </a:rPr>
              <a:t>().</a:t>
            </a:r>
            <a:r>
              <a:rPr sz="1050">
                <a:solidFill>
                  <a:srgbClr val="E2E8F0"/>
                </a:solidFill>
                <a:latin typeface="Consolas"/>
              </a:rPr>
              <a:t>replace</a:t>
            </a:r>
            <a:r>
              <a:rPr sz="1050">
                <a:solidFill>
                  <a:srgbClr val="E2E8F0"/>
                </a:solidFill>
                <a:latin typeface="Consolas"/>
              </a:rPr>
              <a:t>(/\</a:t>
            </a:r>
            <a:r>
              <a:rPr sz="1050">
                <a:solidFill>
                  <a:srgbClr val="E2E8F0"/>
                </a:solidFill>
                <a:latin typeface="Consolas"/>
              </a:rPr>
              <a:t>s</a:t>
            </a:r>
            <a:r>
              <a:rPr sz="1050">
                <a:solidFill>
                  <a:srgbClr val="E2E8F0"/>
                </a:solidFill>
                <a:latin typeface="Consolas"/>
              </a:rPr>
              <a:t>+/</a:t>
            </a:r>
            <a:r>
              <a:rPr sz="1050">
                <a:solidFill>
                  <a:srgbClr val="E2E8F0"/>
                </a:solidFill>
                <a:latin typeface="Consolas"/>
              </a:rPr>
              <a:t>g</a:t>
            </a:r>
            <a:r>
              <a:rPr sz="1050">
                <a:solidFill>
                  <a:srgbClr val="E2E8F0"/>
                </a:solidFill>
                <a:latin typeface="Consolas"/>
              </a:rPr>
              <a:t>, </a:t>
            </a:r>
            <a:r>
              <a:rPr sz="1050">
                <a:solidFill>
                  <a:srgbClr val="FDD08A"/>
                </a:solidFill>
                <a:latin typeface="Consolas"/>
              </a:rPr>
              <a:t>''</a:t>
            </a:r>
            <a:r>
              <a:rPr sz="10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C4B5FD"/>
                </a:solidFill>
                <a:latin typeface="Consolas"/>
              </a:rPr>
              <a:t>if</a:t>
            </a:r>
            <a:r>
              <a:rPr sz="1050">
                <a:solidFill>
                  <a:srgbClr val="E2E8F0"/>
                </a:solidFill>
                <a:latin typeface="Consolas"/>
              </a:rPr>
              <a:t> (!</a:t>
            </a:r>
            <a:r>
              <a:rPr sz="1050">
                <a:solidFill>
                  <a:srgbClr val="E2E8F0"/>
                </a:solidFill>
                <a:latin typeface="Consolas"/>
              </a:rPr>
              <a:t>q</a:t>
            </a:r>
            <a:r>
              <a:rPr sz="1050">
                <a:solidFill>
                  <a:srgbClr val="E2E8F0"/>
                </a:solidFill>
                <a:latin typeface="Consolas"/>
              </a:rPr>
              <a:t>) </a:t>
            </a:r>
            <a:r>
              <a:rPr sz="1050">
                <a:solidFill>
                  <a:srgbClr val="C4B5FD"/>
                </a:solidFill>
                <a:latin typeface="Consolas"/>
              </a:rPr>
              <a:t>return</a:t>
            </a:r>
            <a:r>
              <a:rPr sz="1050">
                <a:solidFill>
                  <a:srgbClr val="E2E8F0"/>
                </a:solidFill>
                <a:latin typeface="Consolas"/>
              </a:rPr>
              <a:t>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C4B5FD"/>
                </a:solidFill>
                <a:latin typeface="Consolas"/>
              </a:rPr>
              <a:t>const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parts</a:t>
            </a:r>
            <a:r>
              <a:rPr sz="1050">
                <a:solidFill>
                  <a:srgbClr val="E2E8F0"/>
                </a:solidFill>
                <a:latin typeface="Consolas"/>
              </a:rPr>
              <a:t> = </a:t>
            </a:r>
            <a:r>
              <a:rPr sz="1050">
                <a:solidFill>
                  <a:srgbClr val="E2E8F0"/>
                </a:solidFill>
                <a:latin typeface="Consolas"/>
              </a:rPr>
              <a:t>q.split</a:t>
            </a:r>
            <a:r>
              <a:rPr sz="1050">
                <a:solidFill>
                  <a:srgbClr val="E2E8F0"/>
                </a:solidFill>
                <a:latin typeface="Consolas"/>
              </a:rPr>
              <a:t>(/[+,\</a:t>
            </a:r>
            <a:r>
              <a:rPr sz="1050">
                <a:solidFill>
                  <a:srgbClr val="E2E8F0"/>
                </a:solidFill>
                <a:latin typeface="Consolas"/>
              </a:rPr>
              <a:t>u2192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u21cc</a:t>
            </a:r>
            <a:r>
              <a:rPr sz="1050">
                <a:solidFill>
                  <a:srgbClr val="E2E8F0"/>
                </a:solidFill>
                <a:latin typeface="Consolas"/>
              </a:rPr>
              <a:t>=]/).</a:t>
            </a:r>
            <a:r>
              <a:rPr sz="1050">
                <a:solidFill>
                  <a:srgbClr val="E2E8F0"/>
                </a:solidFill>
                <a:latin typeface="Consolas"/>
              </a:rPr>
              <a:t>map</a:t>
            </a:r>
            <a:r>
              <a:rPr sz="1050">
                <a:solidFill>
                  <a:srgbClr val="E2E8F0"/>
                </a:solidFill>
                <a:latin typeface="Consolas"/>
              </a:rPr>
              <a:t>((</a:t>
            </a:r>
            <a:r>
              <a:rPr sz="1050">
                <a:solidFill>
                  <a:srgbClr val="E2E8F0"/>
                </a:solidFill>
                <a:latin typeface="Consolas"/>
              </a:rPr>
              <a:t>s</a:t>
            </a:r>
            <a:r>
              <a:rPr sz="1050">
                <a:solidFill>
                  <a:srgbClr val="E2E8F0"/>
                </a:solidFill>
                <a:latin typeface="Consolas"/>
              </a:rPr>
              <a:t>) =&gt; </a:t>
            </a:r>
            <a:r>
              <a:rPr sz="1050">
                <a:solidFill>
                  <a:srgbClr val="E2E8F0"/>
                </a:solidFill>
                <a:latin typeface="Consolas"/>
              </a:rPr>
              <a:t>s.trim</a:t>
            </a:r>
            <a:r>
              <a:rPr sz="1050">
                <a:solidFill>
                  <a:srgbClr val="E2E8F0"/>
                </a:solidFill>
                <a:latin typeface="Consolas"/>
              </a:rPr>
              <a:t>()).</a:t>
            </a:r>
            <a:r>
              <a:rPr sz="1050">
                <a:solidFill>
                  <a:srgbClr val="E2E8F0"/>
                </a:solidFill>
                <a:latin typeface="Consolas"/>
              </a:rPr>
              <a:t>filter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Boolean</a:t>
            </a:r>
            <a:r>
              <a:rPr sz="10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C4B5FD"/>
                </a:solidFill>
                <a:latin typeface="Consolas"/>
              </a:rPr>
              <a:t>return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REACTIONS.filter</a:t>
            </a:r>
            <a:r>
              <a:rPr sz="1050">
                <a:solidFill>
                  <a:srgbClr val="E2E8F0"/>
                </a:solidFill>
                <a:latin typeface="Consolas"/>
              </a:rPr>
              <a:t>((</a:t>
            </a:r>
            <a:r>
              <a:rPr sz="1050">
                <a:solidFill>
                  <a:srgbClr val="E2E8F0"/>
                </a:solidFill>
                <a:latin typeface="Consolas"/>
              </a:rPr>
              <a:t>r</a:t>
            </a:r>
            <a:r>
              <a:rPr sz="1050">
                <a:solidFill>
                  <a:srgbClr val="E2E8F0"/>
                </a:solidFill>
                <a:latin typeface="Consolas"/>
              </a:rPr>
              <a:t>)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</a:t>
            </a:r>
            <a:r>
              <a:rPr sz="1050">
                <a:solidFill>
                  <a:srgbClr val="C4B5FD"/>
                </a:solidFill>
                <a:latin typeface="Consolas"/>
              </a:rPr>
              <a:t>const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hay</a:t>
            </a:r>
            <a:r>
              <a:rPr sz="1050">
                <a:solidFill>
                  <a:srgbClr val="E2E8F0"/>
                </a:solidFill>
                <a:latin typeface="Consolas"/>
              </a:rPr>
              <a:t> = (</a:t>
            </a:r>
            <a:r>
              <a:rPr sz="1050">
                <a:solidFill>
                  <a:srgbClr val="E2E8F0"/>
                </a:solidFill>
                <a:latin typeface="Consolas"/>
              </a:rPr>
              <a:t>r.eq</a:t>
            </a:r>
            <a:r>
              <a:rPr sz="1050">
                <a:solidFill>
                  <a:srgbClr val="E2E8F0"/>
                </a:solidFill>
                <a:latin typeface="Consolas"/>
              </a:rPr>
              <a:t> + </a:t>
            </a:r>
            <a:r>
              <a:rPr sz="1050">
                <a:solidFill>
                  <a:srgbClr val="FDD08A"/>
                </a:solidFill>
                <a:latin typeface="Consolas"/>
              </a:rPr>
              <a:t>' '</a:t>
            </a:r>
            <a:r>
              <a:rPr sz="1050">
                <a:solidFill>
                  <a:srgbClr val="E2E8F0"/>
                </a:solidFill>
                <a:latin typeface="Consolas"/>
              </a:rPr>
              <a:t> + </a:t>
            </a:r>
            <a:r>
              <a:rPr sz="1050">
                <a:solidFill>
                  <a:srgbClr val="E2E8F0"/>
                </a:solidFill>
                <a:latin typeface="Consolas"/>
              </a:rPr>
              <a:t>r.reagents.join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FDD08A"/>
                </a:solidFill>
                <a:latin typeface="Consolas"/>
              </a:rPr>
              <a:t>' '</a:t>
            </a:r>
            <a:r>
              <a:rPr sz="1050">
                <a:solidFill>
                  <a:srgbClr val="E2E8F0"/>
                </a:solidFill>
                <a:latin typeface="Consolas"/>
              </a:rPr>
              <a:t>) + </a:t>
            </a:r>
            <a:r>
              <a:rPr sz="1050">
                <a:solidFill>
                  <a:srgbClr val="FDD08A"/>
                </a:solidFill>
                <a:latin typeface="Consolas"/>
              </a:rPr>
              <a:t>' '</a:t>
            </a:r>
            <a:r>
              <a:rPr sz="1050">
                <a:solidFill>
                  <a:srgbClr val="E2E8F0"/>
                </a:solidFill>
                <a:latin typeface="Consolas"/>
              </a:rPr>
              <a:t> + </a:t>
            </a:r>
            <a:r>
              <a:rPr sz="1050">
                <a:solidFill>
                  <a:srgbClr val="E2E8F0"/>
                </a:solidFill>
                <a:latin typeface="Consolas"/>
              </a:rPr>
              <a:t>r.note</a:t>
            </a:r>
            <a:r>
              <a:rPr sz="10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.</a:t>
            </a:r>
            <a:r>
              <a:rPr sz="1050">
                <a:solidFill>
                  <a:srgbClr val="E2E8F0"/>
                </a:solidFill>
                <a:latin typeface="Consolas"/>
              </a:rPr>
              <a:t>toLowerCase</a:t>
            </a:r>
            <a:r>
              <a:rPr sz="1050">
                <a:solidFill>
                  <a:srgbClr val="E2E8F0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.</a:t>
            </a:r>
            <a:r>
              <a:rPr sz="1050">
                <a:solidFill>
                  <a:srgbClr val="E2E8F0"/>
                </a:solidFill>
                <a:latin typeface="Consolas"/>
              </a:rPr>
              <a:t>replace</a:t>
            </a:r>
            <a:r>
              <a:rPr sz="1050">
                <a:solidFill>
                  <a:srgbClr val="E2E8F0"/>
                </a:solidFill>
                <a:latin typeface="Consolas"/>
              </a:rPr>
              <a:t>(/[\</a:t>
            </a:r>
            <a:r>
              <a:rPr sz="1050">
                <a:solidFill>
                  <a:srgbClr val="E2E8F0"/>
                </a:solidFill>
                <a:latin typeface="Consolas"/>
              </a:rPr>
              <a:t>u2082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u2083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u2084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u2085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u2086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u2087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u2088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u2089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u2070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u00b9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u207b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u207a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u2193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u2191</a:t>
            </a:r>
            <a:r>
              <a:rPr sz="1050">
                <a:solidFill>
                  <a:srgbClr val="E2E8F0"/>
                </a:solidFill>
                <a:latin typeface="Consolas"/>
              </a:rPr>
              <a:t>\</a:t>
            </a:r>
            <a:r>
              <a:rPr sz="1050">
                <a:solidFill>
                  <a:srgbClr val="E2E8F0"/>
                </a:solidFill>
                <a:latin typeface="Consolas"/>
              </a:rPr>
              <a:t>u00b7</a:t>
            </a:r>
            <a:r>
              <a:rPr sz="1050">
                <a:solidFill>
                  <a:srgbClr val="E2E8F0"/>
                </a:solidFill>
                <a:latin typeface="Consolas"/>
              </a:rPr>
              <a:t>]/</a:t>
            </a:r>
            <a:r>
              <a:rPr sz="1050">
                <a:solidFill>
                  <a:srgbClr val="E2E8F0"/>
                </a:solidFill>
                <a:latin typeface="Consolas"/>
              </a:rPr>
              <a:t>g</a:t>
            </a:r>
            <a:r>
              <a:rPr sz="1050">
                <a:solidFill>
                  <a:srgbClr val="E2E8F0"/>
                </a:solidFill>
                <a:latin typeface="Consolas"/>
              </a:rPr>
              <a:t>, (</a:t>
            </a:r>
            <a:r>
              <a:rPr sz="1050">
                <a:solidFill>
                  <a:srgbClr val="E2E8F0"/>
                </a:solidFill>
                <a:latin typeface="Consolas"/>
              </a:rPr>
              <a:t>ch</a:t>
            </a:r>
            <a:r>
              <a:rPr sz="1050">
                <a:solidFill>
                  <a:srgbClr val="E2E8F0"/>
                </a:solidFill>
                <a:latin typeface="Consolas"/>
              </a:rPr>
              <a:t>) =&gt; </a:t>
            </a:r>
            <a:r>
              <a:rPr sz="1050">
                <a:solidFill>
                  <a:srgbClr val="E2E8F0"/>
                </a:solidFill>
                <a:latin typeface="Consolas"/>
              </a:rPr>
              <a:t>SUB</a:t>
            </a:r>
            <a:r>
              <a:rPr sz="1050">
                <a:solidFill>
                  <a:srgbClr val="E2E8F0"/>
                </a:solidFill>
                <a:latin typeface="Consolas"/>
              </a:rPr>
              <a:t>[</a:t>
            </a:r>
            <a:r>
              <a:rPr sz="1050">
                <a:solidFill>
                  <a:srgbClr val="E2E8F0"/>
                </a:solidFill>
                <a:latin typeface="Consolas"/>
              </a:rPr>
              <a:t>ch</a:t>
            </a:r>
            <a:r>
              <a:rPr sz="1050">
                <a:solidFill>
                  <a:srgbClr val="E2E8F0"/>
                </a:solidFill>
                <a:latin typeface="Consolas"/>
              </a:rPr>
              <a:t>] ?? </a:t>
            </a:r>
            <a:r>
              <a:rPr sz="1050">
                <a:solidFill>
                  <a:srgbClr val="E2E8F0"/>
                </a:solidFill>
                <a:latin typeface="Consolas"/>
              </a:rPr>
              <a:t>ch</a:t>
            </a:r>
            <a:r>
              <a:rPr sz="1050">
                <a:solidFill>
                  <a:srgbClr val="E2E8F0"/>
                </a:solidFill>
                <a:latin typeface="Consolas"/>
              </a:rPr>
              <a:t>)  </a:t>
            </a:r>
            <a:r>
              <a:rPr sz="1050">
                <a:solidFill>
                  <a:srgbClr val="7DD39B"/>
                </a:solidFill>
                <a:latin typeface="Consolas"/>
              </a:rPr>
              <a:t>// H₂O → H2O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  .</a:t>
            </a:r>
            <a:r>
              <a:rPr sz="1050">
                <a:solidFill>
                  <a:srgbClr val="E2E8F0"/>
                </a:solidFill>
                <a:latin typeface="Consolas"/>
              </a:rPr>
              <a:t>replace</a:t>
            </a:r>
            <a:r>
              <a:rPr sz="1050">
                <a:solidFill>
                  <a:srgbClr val="E2E8F0"/>
                </a:solidFill>
                <a:latin typeface="Consolas"/>
              </a:rPr>
              <a:t>(/\</a:t>
            </a:r>
            <a:r>
              <a:rPr sz="1050">
                <a:solidFill>
                  <a:srgbClr val="E2E8F0"/>
                </a:solidFill>
                <a:latin typeface="Consolas"/>
              </a:rPr>
              <a:t>s</a:t>
            </a:r>
            <a:r>
              <a:rPr sz="1050">
                <a:solidFill>
                  <a:srgbClr val="E2E8F0"/>
                </a:solidFill>
                <a:latin typeface="Consolas"/>
              </a:rPr>
              <a:t>+/</a:t>
            </a:r>
            <a:r>
              <a:rPr sz="1050">
                <a:solidFill>
                  <a:srgbClr val="E2E8F0"/>
                </a:solidFill>
                <a:latin typeface="Consolas"/>
              </a:rPr>
              <a:t>g</a:t>
            </a:r>
            <a:r>
              <a:rPr sz="1050">
                <a:solidFill>
                  <a:srgbClr val="E2E8F0"/>
                </a:solidFill>
                <a:latin typeface="Consolas"/>
              </a:rPr>
              <a:t>, </a:t>
            </a:r>
            <a:r>
              <a:rPr sz="1050">
                <a:solidFill>
                  <a:srgbClr val="FDD08A"/>
                </a:solidFill>
                <a:latin typeface="Consolas"/>
              </a:rPr>
              <a:t>''</a:t>
            </a:r>
            <a:r>
              <a:rPr sz="10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</a:t>
            </a:r>
            <a:r>
              <a:rPr sz="1050">
                <a:solidFill>
                  <a:srgbClr val="C4B5FD"/>
                </a:solidFill>
                <a:latin typeface="Consolas"/>
              </a:rPr>
              <a:t>if</a:t>
            </a:r>
            <a:r>
              <a:rPr sz="1050">
                <a:solidFill>
                  <a:srgbClr val="E2E8F0"/>
                </a:solidFill>
                <a:latin typeface="Consolas"/>
              </a:rPr>
              <a:t> (</a:t>
            </a:r>
            <a:r>
              <a:rPr sz="1050">
                <a:solidFill>
                  <a:srgbClr val="E2E8F0"/>
                </a:solidFill>
                <a:latin typeface="Consolas"/>
              </a:rPr>
              <a:t>hay.includes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q</a:t>
            </a:r>
            <a:r>
              <a:rPr sz="1050">
                <a:solidFill>
                  <a:srgbClr val="E2E8F0"/>
                </a:solidFill>
                <a:latin typeface="Consolas"/>
              </a:rPr>
              <a:t>)) </a:t>
            </a:r>
            <a:r>
              <a:rPr sz="1050">
                <a:solidFill>
                  <a:srgbClr val="C4B5FD"/>
                </a:solidFill>
                <a:latin typeface="Consolas"/>
              </a:rPr>
              <a:t>return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C4B5FD"/>
                </a:solidFill>
                <a:latin typeface="Consolas"/>
              </a:rPr>
              <a:t>true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</a:t>
            </a:r>
            <a:r>
              <a:rPr sz="1050">
                <a:solidFill>
                  <a:srgbClr val="7DD39B"/>
                </a:solidFill>
                <a:latin typeface="Consolas"/>
              </a:rPr>
              <a:t>// если введены несколько веществ: NaOH+HCl — ищем уравнение, где есть все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</a:t>
            </a:r>
            <a:r>
              <a:rPr sz="1050">
                <a:solidFill>
                  <a:srgbClr val="C4B5FD"/>
                </a:solidFill>
                <a:latin typeface="Consolas"/>
              </a:rPr>
              <a:t>return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parts.every</a:t>
            </a:r>
            <a:r>
              <a:rPr sz="1050">
                <a:solidFill>
                  <a:srgbClr val="E2E8F0"/>
                </a:solidFill>
                <a:latin typeface="Consolas"/>
              </a:rPr>
              <a:t>((</a:t>
            </a:r>
            <a:r>
              <a:rPr sz="1050">
                <a:solidFill>
                  <a:srgbClr val="E2E8F0"/>
                </a:solidFill>
                <a:latin typeface="Consolas"/>
              </a:rPr>
              <a:t>p</a:t>
            </a:r>
            <a:r>
              <a:rPr sz="1050">
                <a:solidFill>
                  <a:srgbClr val="E2E8F0"/>
                </a:solidFill>
                <a:latin typeface="Consolas"/>
              </a:rPr>
              <a:t>) =&gt; </a:t>
            </a:r>
            <a:r>
              <a:rPr sz="1050">
                <a:solidFill>
                  <a:srgbClr val="E2E8F0"/>
                </a:solidFill>
                <a:latin typeface="Consolas"/>
              </a:rPr>
              <a:t>hay.includes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p</a:t>
            </a:r>
            <a:r>
              <a:rPr sz="1050">
                <a:solidFill>
                  <a:srgbClr val="E2E8F0"/>
                </a:solidFill>
                <a:latin typeface="Consolas"/>
              </a:rPr>
              <a:t>) || </a:t>
            </a:r>
            <a:r>
              <a:rPr sz="1050">
                <a:solidFill>
                  <a:srgbClr val="E2E8F0"/>
                </a:solidFill>
                <a:latin typeface="Consolas"/>
              </a:rPr>
              <a:t>r.reagents.some</a:t>
            </a:r>
            <a:r>
              <a:rPr sz="1050">
                <a:solidFill>
                  <a:srgbClr val="E2E8F0"/>
                </a:solidFill>
                <a:latin typeface="Consolas"/>
              </a:rPr>
              <a:t>((</a:t>
            </a:r>
            <a:r>
              <a:rPr sz="1050">
                <a:solidFill>
                  <a:srgbClr val="E2E8F0"/>
                </a:solidFill>
                <a:latin typeface="Consolas"/>
              </a:rPr>
              <a:t>x</a:t>
            </a:r>
            <a:r>
              <a:rPr sz="1050">
                <a:solidFill>
                  <a:srgbClr val="E2E8F0"/>
                </a:solidFill>
                <a:latin typeface="Consolas"/>
              </a:rPr>
              <a:t>) =&gt; </a:t>
            </a:r>
            <a:r>
              <a:rPr sz="1050">
                <a:solidFill>
                  <a:srgbClr val="E2E8F0"/>
                </a:solidFill>
                <a:latin typeface="Consolas"/>
              </a:rPr>
              <a:t>x.includes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p</a:t>
            </a:r>
            <a:r>
              <a:rPr sz="1050">
                <a:solidFill>
                  <a:srgbClr val="E2E8F0"/>
                </a:solidFill>
                <a:latin typeface="Consolas"/>
              </a:rPr>
              <a:t>)))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ПАРСЕР СТРОК · src/lib/molarMass.js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Калькулятор молярной массы: разбор формулы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08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Формула разбирается посимвольно в токены — так корректно обрабатываются элементы из двух букв (Cl, Fe) и числа после них.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Скобки считаются рекурсией: внутренняя часть обрабатывается отдельным вызовом и умножается на коэффициент за скобкой.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Гидраты (CuSO4·5H2O) — отдельная ветка: точка, «·», «•» и «×» считаются разделителем, а не десятичной точкой.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Ошибки объясняются словами: «Нет закрывающей скобки», «Элемент Xx не найден в базе».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7327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src/lib/molarMass.js — три шага разбора формулы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4215"/>
            <a:ext cx="10820095" cy="2678049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normalizeFormula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FDD08A"/>
                </a:solidFill>
                <a:latin typeface="Consolas"/>
              </a:rPr>
              <a:t>'CuSO4\u00b75H2O'</a:t>
            </a:r>
            <a:r>
              <a:rPr sz="1050">
                <a:solidFill>
                  <a:srgbClr val="E2E8F0"/>
                </a:solidFill>
                <a:latin typeface="Consolas"/>
              </a:rPr>
              <a:t>)   </a:t>
            </a:r>
            <a:r>
              <a:rPr sz="1050">
                <a:solidFill>
                  <a:srgbClr val="7DD39B"/>
                </a:solidFill>
                <a:latin typeface="Consolas"/>
              </a:rPr>
              <a:t>// \u00b7 \u2022 \u00d7 и точка → знак гидрата: 'CuSO4*5H2O'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tokenize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formula</a:t>
            </a:r>
            <a:r>
              <a:rPr sz="1050">
                <a:solidFill>
                  <a:srgbClr val="E2E8F0"/>
                </a:solidFill>
                <a:latin typeface="Consolas"/>
              </a:rPr>
              <a:t>)                </a:t>
            </a:r>
            <a:r>
              <a:rPr sz="1050">
                <a:solidFill>
                  <a:srgbClr val="7DD39B"/>
                </a:solidFill>
                <a:latin typeface="Consolas"/>
              </a:rPr>
              <a:t>// H2SO4 → [H] [2] [S] [O] [4]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C4B5FD"/>
                </a:solidFill>
                <a:latin typeface="Consolas"/>
              </a:rPr>
              <a:t>if</a:t>
            </a:r>
            <a:r>
              <a:rPr sz="1050">
                <a:solidFill>
                  <a:srgbClr val="E2E8F0"/>
                </a:solidFill>
                <a:latin typeface="Consolas"/>
              </a:rPr>
              <a:t> (/[</a:t>
            </a:r>
            <a:r>
              <a:rPr sz="1050">
                <a:solidFill>
                  <a:srgbClr val="E2E8F0"/>
                </a:solidFill>
                <a:latin typeface="Consolas"/>
              </a:rPr>
              <a:t>A-Z</a:t>
            </a:r>
            <a:r>
              <a:rPr sz="1050">
                <a:solidFill>
                  <a:srgbClr val="E2E8F0"/>
                </a:solidFill>
                <a:latin typeface="Consolas"/>
              </a:rPr>
              <a:t>]/.</a:t>
            </a:r>
            <a:r>
              <a:rPr sz="1050">
                <a:solidFill>
                  <a:srgbClr val="E2E8F0"/>
                </a:solidFill>
                <a:latin typeface="Consolas"/>
              </a:rPr>
              <a:t>test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c</a:t>
            </a:r>
            <a:r>
              <a:rPr sz="1050">
                <a:solidFill>
                  <a:srgbClr val="E2E8F0"/>
                </a:solidFill>
                <a:latin typeface="Consolas"/>
              </a:rPr>
              <a:t>)) {         </a:t>
            </a:r>
            <a:r>
              <a:rPr sz="1050">
                <a:solidFill>
                  <a:srgbClr val="7DD39B"/>
                </a:solidFill>
                <a:latin typeface="Consolas"/>
              </a:rPr>
              <a:t>// элемент: заглавная буква + строчные (Cl, Fe, Na)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</a:t>
            </a:r>
            <a:r>
              <a:rPr sz="1050">
                <a:solidFill>
                  <a:srgbClr val="C4B5FD"/>
                </a:solidFill>
                <a:latin typeface="Consolas"/>
              </a:rPr>
              <a:t>let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el</a:t>
            </a:r>
            <a:r>
              <a:rPr sz="1050">
                <a:solidFill>
                  <a:srgbClr val="E2E8F0"/>
                </a:solidFill>
                <a:latin typeface="Consolas"/>
              </a:rPr>
              <a:t> = </a:t>
            </a:r>
            <a:r>
              <a:rPr sz="1050">
                <a:solidFill>
                  <a:srgbClr val="E2E8F0"/>
                </a:solidFill>
                <a:latin typeface="Consolas"/>
              </a:rPr>
              <a:t>c</a:t>
            </a:r>
            <a:r>
              <a:rPr sz="1050">
                <a:solidFill>
                  <a:srgbClr val="E2E8F0"/>
                </a:solidFill>
                <a:latin typeface="Consolas"/>
              </a:rPr>
              <a:t>; </a:t>
            </a:r>
            <a:r>
              <a:rPr sz="1050">
                <a:solidFill>
                  <a:srgbClr val="C4B5FD"/>
                </a:solidFill>
                <a:latin typeface="Consolas"/>
              </a:rPr>
              <a:t>while</a:t>
            </a:r>
            <a:r>
              <a:rPr sz="1050">
                <a:solidFill>
                  <a:srgbClr val="E2E8F0"/>
                </a:solidFill>
                <a:latin typeface="Consolas"/>
              </a:rPr>
              <a:t> (/[</a:t>
            </a:r>
            <a:r>
              <a:rPr sz="1050">
                <a:solidFill>
                  <a:srgbClr val="E2E8F0"/>
                </a:solidFill>
                <a:latin typeface="Consolas"/>
              </a:rPr>
              <a:t>a-z</a:t>
            </a:r>
            <a:r>
              <a:rPr sz="1050">
                <a:solidFill>
                  <a:srgbClr val="E2E8F0"/>
                </a:solidFill>
                <a:latin typeface="Consolas"/>
              </a:rPr>
              <a:t>]/.</a:t>
            </a:r>
            <a:r>
              <a:rPr sz="1050">
                <a:solidFill>
                  <a:srgbClr val="E2E8F0"/>
                </a:solidFill>
                <a:latin typeface="Consolas"/>
              </a:rPr>
              <a:t>test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s</a:t>
            </a:r>
            <a:r>
              <a:rPr sz="1050">
                <a:solidFill>
                  <a:srgbClr val="E2E8F0"/>
                </a:solidFill>
                <a:latin typeface="Consolas"/>
              </a:rPr>
              <a:t>[</a:t>
            </a:r>
            <a:r>
              <a:rPr sz="1050">
                <a:solidFill>
                  <a:srgbClr val="E2E8F0"/>
                </a:solidFill>
                <a:latin typeface="Consolas"/>
              </a:rPr>
              <a:t>i</a:t>
            </a:r>
            <a:r>
              <a:rPr sz="1050">
                <a:solidFill>
                  <a:srgbClr val="E2E8F0"/>
                </a:solidFill>
                <a:latin typeface="Consolas"/>
              </a:rPr>
              <a:t>])) </a:t>
            </a:r>
            <a:r>
              <a:rPr sz="1050">
                <a:solidFill>
                  <a:srgbClr val="E2E8F0"/>
                </a:solidFill>
                <a:latin typeface="Consolas"/>
              </a:rPr>
              <a:t>el</a:t>
            </a:r>
            <a:r>
              <a:rPr sz="1050">
                <a:solidFill>
                  <a:srgbClr val="E2E8F0"/>
                </a:solidFill>
                <a:latin typeface="Consolas"/>
              </a:rPr>
              <a:t> += </a:t>
            </a:r>
            <a:r>
              <a:rPr sz="1050">
                <a:solidFill>
                  <a:srgbClr val="E2E8F0"/>
                </a:solidFill>
                <a:latin typeface="Consolas"/>
              </a:rPr>
              <a:t>s</a:t>
            </a:r>
            <a:r>
              <a:rPr sz="1050">
                <a:solidFill>
                  <a:srgbClr val="E2E8F0"/>
                </a:solidFill>
                <a:latin typeface="Consolas"/>
              </a:rPr>
              <a:t>[</a:t>
            </a:r>
            <a:r>
              <a:rPr sz="1050">
                <a:solidFill>
                  <a:srgbClr val="E2E8F0"/>
                </a:solidFill>
                <a:latin typeface="Consolas"/>
              </a:rPr>
              <a:t>i</a:t>
            </a:r>
            <a:r>
              <a:rPr sz="1050">
                <a:solidFill>
                  <a:srgbClr val="E2E8F0"/>
                </a:solidFill>
                <a:latin typeface="Consolas"/>
              </a:rPr>
              <a:t>++]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  </a:t>
            </a:r>
            <a:r>
              <a:rPr sz="1050">
                <a:solidFill>
                  <a:srgbClr val="E2E8F0"/>
                </a:solidFill>
                <a:latin typeface="Consolas"/>
              </a:rPr>
              <a:t>tokens.push</a:t>
            </a:r>
            <a:r>
              <a:rPr sz="1050">
                <a:solidFill>
                  <a:srgbClr val="E2E8F0"/>
                </a:solidFill>
                <a:latin typeface="Consolas"/>
              </a:rPr>
              <a:t>({ </a:t>
            </a:r>
            <a:r>
              <a:rPr sz="1050">
                <a:solidFill>
                  <a:srgbClr val="E2E8F0"/>
                </a:solidFill>
                <a:latin typeface="Consolas"/>
              </a:rPr>
              <a:t>type</a:t>
            </a:r>
            <a:r>
              <a:rPr sz="1050">
                <a:solidFill>
                  <a:srgbClr val="E2E8F0"/>
                </a:solidFill>
                <a:latin typeface="Consolas"/>
              </a:rPr>
              <a:t>: </a:t>
            </a:r>
            <a:r>
              <a:rPr sz="1050">
                <a:solidFill>
                  <a:srgbClr val="FDD08A"/>
                </a:solidFill>
                <a:latin typeface="Consolas"/>
              </a:rPr>
              <a:t>'el'</a:t>
            </a:r>
            <a:r>
              <a:rPr sz="1050">
                <a:solidFill>
                  <a:srgbClr val="E2E8F0"/>
                </a:solidFill>
                <a:latin typeface="Consolas"/>
              </a:rPr>
              <a:t>, </a:t>
            </a:r>
            <a:r>
              <a:rPr sz="1050">
                <a:solidFill>
                  <a:srgbClr val="E2E8F0"/>
                </a:solidFill>
                <a:latin typeface="Consolas"/>
              </a:rPr>
              <a:t>value</a:t>
            </a:r>
            <a:r>
              <a:rPr sz="1050">
                <a:solidFill>
                  <a:srgbClr val="E2E8F0"/>
                </a:solidFill>
                <a:latin typeface="Consolas"/>
              </a:rPr>
              <a:t>: </a:t>
            </a:r>
            <a:r>
              <a:rPr sz="1050">
                <a:solidFill>
                  <a:srgbClr val="E2E8F0"/>
                </a:solidFill>
                <a:latin typeface="Consolas"/>
              </a:rPr>
              <a:t>el</a:t>
            </a:r>
            <a:r>
              <a:rPr sz="1050">
                <a:solidFill>
                  <a:srgbClr val="E2E8F0"/>
                </a:solidFill>
                <a:latin typeface="Consolas"/>
              </a:rPr>
              <a:t> 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parseGroup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tokens</a:t>
            </a:r>
            <a:r>
              <a:rPr sz="1050">
                <a:solidFill>
                  <a:srgbClr val="E2E8F0"/>
                </a:solidFill>
                <a:latin typeface="Consolas"/>
              </a:rPr>
              <a:t>, </a:t>
            </a:r>
            <a:r>
              <a:rPr sz="1050">
                <a:solidFill>
                  <a:srgbClr val="E2E8F0"/>
                </a:solidFill>
                <a:latin typeface="Consolas"/>
              </a:rPr>
              <a:t>i</a:t>
            </a:r>
            <a:r>
              <a:rPr sz="1050">
                <a:solidFill>
                  <a:srgbClr val="E2E8F0"/>
                </a:solidFill>
                <a:latin typeface="Consolas"/>
              </a:rPr>
              <a:t>)            </a:t>
            </a:r>
            <a:r>
              <a:rPr sz="1050">
                <a:solidFill>
                  <a:srgbClr val="7DD39B"/>
                </a:solidFill>
                <a:latin typeface="Consolas"/>
              </a:rPr>
              <a:t>// рекурсия для скобок: Fe2(SO4)3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C4B5FD"/>
                </a:solidFill>
                <a:latin typeface="Consolas"/>
              </a:rPr>
              <a:t>const</a:t>
            </a:r>
            <a:r>
              <a:rPr sz="1050">
                <a:solidFill>
                  <a:srgbClr val="E2E8F0"/>
                </a:solidFill>
                <a:latin typeface="Consolas"/>
              </a:rPr>
              <a:t> [</a:t>
            </a:r>
            <a:r>
              <a:rPr sz="1050">
                <a:solidFill>
                  <a:srgbClr val="E2E8F0"/>
                </a:solidFill>
                <a:latin typeface="Consolas"/>
              </a:rPr>
              <a:t>inner</a:t>
            </a:r>
            <a:r>
              <a:rPr sz="1050">
                <a:solidFill>
                  <a:srgbClr val="E2E8F0"/>
                </a:solidFill>
                <a:latin typeface="Consolas"/>
              </a:rPr>
              <a:t>, </a:t>
            </a:r>
            <a:r>
              <a:rPr sz="1050">
                <a:solidFill>
                  <a:srgbClr val="E2E8F0"/>
                </a:solidFill>
                <a:latin typeface="Consolas"/>
              </a:rPr>
              <a:t>ni</a:t>
            </a:r>
            <a:r>
              <a:rPr sz="1050">
                <a:solidFill>
                  <a:srgbClr val="E2E8F0"/>
                </a:solidFill>
                <a:latin typeface="Consolas"/>
              </a:rPr>
              <a:t>] = </a:t>
            </a:r>
            <a:r>
              <a:rPr sz="1050">
                <a:solidFill>
                  <a:srgbClr val="E2E8F0"/>
                </a:solidFill>
                <a:latin typeface="Consolas"/>
              </a:rPr>
              <a:t>parseGroup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tokens</a:t>
            </a:r>
            <a:r>
              <a:rPr sz="1050">
                <a:solidFill>
                  <a:srgbClr val="E2E8F0"/>
                </a:solidFill>
                <a:latin typeface="Consolas"/>
              </a:rPr>
              <a:t>, </a:t>
            </a:r>
            <a:r>
              <a:rPr sz="1050">
                <a:solidFill>
                  <a:srgbClr val="E2E8F0"/>
                </a:solidFill>
                <a:latin typeface="Consolas"/>
              </a:rPr>
              <a:t>i</a:t>
            </a:r>
            <a:r>
              <a:rPr sz="1050">
                <a:solidFill>
                  <a:srgbClr val="E2E8F0"/>
                </a:solidFill>
                <a:latin typeface="Consolas"/>
              </a:rPr>
              <a:t> + </a:t>
            </a:r>
            <a:r>
              <a:rPr sz="1050">
                <a:solidFill>
                  <a:srgbClr val="93C5FD"/>
                </a:solidFill>
                <a:latin typeface="Consolas"/>
              </a:rPr>
              <a:t>1</a:t>
            </a:r>
            <a:r>
              <a:rPr sz="1050">
                <a:solidFill>
                  <a:srgbClr val="E2E8F0"/>
                </a:solidFill>
                <a:latin typeface="Consolas"/>
              </a:rPr>
              <a:t>)   </a:t>
            </a:r>
            <a:r>
              <a:rPr sz="1050">
                <a:solidFill>
                  <a:srgbClr val="7DD39B"/>
                </a:solidFill>
                <a:latin typeface="Consolas"/>
              </a:rPr>
              <a:t>// считаем содержимое скобок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C4B5FD"/>
                </a:solidFill>
                <a:latin typeface="Consolas"/>
              </a:rPr>
              <a:t>let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mul</a:t>
            </a:r>
            <a:r>
              <a:rPr sz="1050">
                <a:solidFill>
                  <a:srgbClr val="E2E8F0"/>
                </a:solidFill>
                <a:latin typeface="Consolas"/>
              </a:rPr>
              <a:t> = </a:t>
            </a:r>
            <a:r>
              <a:rPr sz="1050">
                <a:solidFill>
                  <a:srgbClr val="93C5FD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C4B5FD"/>
                </a:solidFill>
                <a:latin typeface="Consolas"/>
              </a:rPr>
              <a:t>if</a:t>
            </a:r>
            <a:r>
              <a:rPr sz="1050">
                <a:solidFill>
                  <a:srgbClr val="E2E8F0"/>
                </a:solidFill>
                <a:latin typeface="Consolas"/>
              </a:rPr>
              <a:t> (</a:t>
            </a:r>
            <a:r>
              <a:rPr sz="1050">
                <a:solidFill>
                  <a:srgbClr val="E2E8F0"/>
                </a:solidFill>
                <a:latin typeface="Consolas"/>
              </a:rPr>
              <a:t>tokens</a:t>
            </a:r>
            <a:r>
              <a:rPr sz="1050">
                <a:solidFill>
                  <a:srgbClr val="E2E8F0"/>
                </a:solidFill>
                <a:latin typeface="Consolas"/>
              </a:rPr>
              <a:t>[</a:t>
            </a:r>
            <a:r>
              <a:rPr sz="1050">
                <a:solidFill>
                  <a:srgbClr val="E2E8F0"/>
                </a:solidFill>
                <a:latin typeface="Consolas"/>
              </a:rPr>
              <a:t>ni</a:t>
            </a:r>
            <a:r>
              <a:rPr sz="1050">
                <a:solidFill>
                  <a:srgbClr val="E2E8F0"/>
                </a:solidFill>
                <a:latin typeface="Consolas"/>
              </a:rPr>
              <a:t>]?.</a:t>
            </a:r>
            <a:r>
              <a:rPr sz="1050">
                <a:solidFill>
                  <a:srgbClr val="E2E8F0"/>
                </a:solidFill>
                <a:latin typeface="Consolas"/>
              </a:rPr>
              <a:t>type</a:t>
            </a:r>
            <a:r>
              <a:rPr sz="1050">
                <a:solidFill>
                  <a:srgbClr val="E2E8F0"/>
                </a:solidFill>
                <a:latin typeface="Consolas"/>
              </a:rPr>
              <a:t> === </a:t>
            </a:r>
            <a:r>
              <a:rPr sz="1050">
                <a:solidFill>
                  <a:srgbClr val="FDD08A"/>
                </a:solidFill>
                <a:latin typeface="Consolas"/>
              </a:rPr>
              <a:t>'num'</a:t>
            </a:r>
            <a:r>
              <a:rPr sz="1050">
                <a:solidFill>
                  <a:srgbClr val="E2E8F0"/>
                </a:solidFill>
                <a:latin typeface="Consolas"/>
              </a:rPr>
              <a:t>) </a:t>
            </a:r>
            <a:r>
              <a:rPr sz="1050">
                <a:solidFill>
                  <a:srgbClr val="E2E8F0"/>
                </a:solidFill>
                <a:latin typeface="Consolas"/>
              </a:rPr>
              <a:t>mul</a:t>
            </a:r>
            <a:r>
              <a:rPr sz="1050">
                <a:solidFill>
                  <a:srgbClr val="E2E8F0"/>
                </a:solidFill>
                <a:latin typeface="Consolas"/>
              </a:rPr>
              <a:t> = </a:t>
            </a:r>
            <a:r>
              <a:rPr sz="1050">
                <a:solidFill>
                  <a:srgbClr val="E2E8F0"/>
                </a:solidFill>
                <a:latin typeface="Consolas"/>
              </a:rPr>
              <a:t>tokens</a:t>
            </a:r>
            <a:r>
              <a:rPr sz="1050">
                <a:solidFill>
                  <a:srgbClr val="E2E8F0"/>
                </a:solidFill>
                <a:latin typeface="Consolas"/>
              </a:rPr>
              <a:t>[</a:t>
            </a:r>
            <a:r>
              <a:rPr sz="1050">
                <a:solidFill>
                  <a:srgbClr val="E2E8F0"/>
                </a:solidFill>
                <a:latin typeface="Consolas"/>
              </a:rPr>
              <a:t>ni</a:t>
            </a:r>
            <a:r>
              <a:rPr sz="1050">
                <a:solidFill>
                  <a:srgbClr val="E2E8F0"/>
                </a:solidFill>
                <a:latin typeface="Consolas"/>
              </a:rPr>
              <a:t>].</a:t>
            </a:r>
            <a:r>
              <a:rPr sz="1050">
                <a:solidFill>
                  <a:srgbClr val="E2E8F0"/>
                </a:solidFill>
                <a:latin typeface="Consolas"/>
              </a:rPr>
              <a:t>value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C4B5FD"/>
                </a:solidFill>
                <a:latin typeface="Consolas"/>
              </a:rPr>
              <a:t>for</a:t>
            </a:r>
            <a:r>
              <a:rPr sz="1050">
                <a:solidFill>
                  <a:srgbClr val="E2E8F0"/>
                </a:solidFill>
                <a:latin typeface="Consolas"/>
              </a:rPr>
              <a:t> (</a:t>
            </a:r>
            <a:r>
              <a:rPr sz="1050">
                <a:solidFill>
                  <a:srgbClr val="C4B5FD"/>
                </a:solidFill>
                <a:latin typeface="Consolas"/>
              </a:rPr>
              <a:t>const</a:t>
            </a:r>
            <a:r>
              <a:rPr sz="1050">
                <a:solidFill>
                  <a:srgbClr val="E2E8F0"/>
                </a:solidFill>
                <a:latin typeface="Consolas"/>
              </a:rPr>
              <a:t> [</a:t>
            </a:r>
            <a:r>
              <a:rPr sz="1050">
                <a:solidFill>
                  <a:srgbClr val="E2E8F0"/>
                </a:solidFill>
                <a:latin typeface="Consolas"/>
              </a:rPr>
              <a:t>el</a:t>
            </a:r>
            <a:r>
              <a:rPr sz="1050">
                <a:solidFill>
                  <a:srgbClr val="E2E8F0"/>
                </a:solidFill>
                <a:latin typeface="Consolas"/>
              </a:rPr>
              <a:t>, </a:t>
            </a:r>
            <a:r>
              <a:rPr sz="1050">
                <a:solidFill>
                  <a:srgbClr val="E2E8F0"/>
                </a:solidFill>
                <a:latin typeface="Consolas"/>
              </a:rPr>
              <a:t>n</a:t>
            </a:r>
            <a:r>
              <a:rPr sz="1050">
                <a:solidFill>
                  <a:srgbClr val="E2E8F0"/>
                </a:solidFill>
                <a:latin typeface="Consolas"/>
              </a:rPr>
              <a:t>] </a:t>
            </a:r>
            <a:r>
              <a:rPr sz="1050">
                <a:solidFill>
                  <a:srgbClr val="C4B5FD"/>
                </a:solidFill>
                <a:latin typeface="Consolas"/>
              </a:rPr>
              <a:t>of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Object.entries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inner</a:t>
            </a:r>
            <a:r>
              <a:rPr sz="1050">
                <a:solidFill>
                  <a:srgbClr val="E2E8F0"/>
                </a:solidFill>
                <a:latin typeface="Consolas"/>
              </a:rPr>
              <a:t>)) </a:t>
            </a:r>
            <a:r>
              <a:rPr sz="1050">
                <a:solidFill>
                  <a:srgbClr val="E2E8F0"/>
                </a:solidFill>
                <a:latin typeface="Consolas"/>
              </a:rPr>
              <a:t>add</a:t>
            </a:r>
            <a:r>
              <a:rPr sz="1050">
                <a:solidFill>
                  <a:srgbClr val="E2E8F0"/>
                </a:solidFill>
                <a:latin typeface="Consolas"/>
              </a:rPr>
              <a:t>(</a:t>
            </a:r>
            <a:r>
              <a:rPr sz="1050">
                <a:solidFill>
                  <a:srgbClr val="E2E8F0"/>
                </a:solidFill>
                <a:latin typeface="Consolas"/>
              </a:rPr>
              <a:t>el</a:t>
            </a:r>
            <a:r>
              <a:rPr sz="1050">
                <a:solidFill>
                  <a:srgbClr val="E2E8F0"/>
                </a:solidFill>
                <a:latin typeface="Consolas"/>
              </a:rPr>
              <a:t>, </a:t>
            </a:r>
            <a:r>
              <a:rPr sz="1050">
                <a:solidFill>
                  <a:srgbClr val="E2E8F0"/>
                </a:solidFill>
                <a:latin typeface="Consolas"/>
              </a:rPr>
              <a:t>n</a:t>
            </a:r>
            <a:r>
              <a:rPr sz="1050">
                <a:solidFill>
                  <a:srgbClr val="E2E8F0"/>
                </a:solidFill>
                <a:latin typeface="Consolas"/>
              </a:rPr>
              <a:t> * </a:t>
            </a:r>
            <a:r>
              <a:rPr sz="1050">
                <a:solidFill>
                  <a:srgbClr val="E2E8F0"/>
                </a:solidFill>
                <a:latin typeface="Consolas"/>
              </a:rPr>
              <a:t>mul</a:t>
            </a:r>
            <a:r>
              <a:rPr sz="10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C4B5FD"/>
                </a:solidFill>
                <a:latin typeface="Consolas"/>
              </a:rPr>
              <a:t>const</a:t>
            </a:r>
            <a:r>
              <a:rPr sz="1050">
                <a:solidFill>
                  <a:srgbClr val="E2E8F0"/>
                </a:solidFill>
                <a:latin typeface="Consolas"/>
              </a:rPr>
              <a:t> </a:t>
            </a:r>
            <a:r>
              <a:rPr sz="1050">
                <a:solidFill>
                  <a:srgbClr val="E2E8F0"/>
                </a:solidFill>
                <a:latin typeface="Consolas"/>
              </a:rPr>
              <a:t>sub</a:t>
            </a:r>
            <a:r>
              <a:rPr sz="1050">
                <a:solidFill>
                  <a:srgbClr val="E2E8F0"/>
                </a:solidFill>
                <a:latin typeface="Consolas"/>
              </a:rPr>
              <a:t> = </a:t>
            </a:r>
            <a:r>
              <a:rPr sz="1050">
                <a:solidFill>
                  <a:srgbClr val="E2E8F0"/>
                </a:solidFill>
                <a:latin typeface="Consolas"/>
              </a:rPr>
              <a:t>info.mass</a:t>
            </a:r>
            <a:r>
              <a:rPr sz="1050">
                <a:solidFill>
                  <a:srgbClr val="E2E8F0"/>
                </a:solidFill>
                <a:latin typeface="Consolas"/>
              </a:rPr>
              <a:t> * </a:t>
            </a:r>
            <a:r>
              <a:rPr sz="1050">
                <a:solidFill>
                  <a:srgbClr val="E2E8F0"/>
                </a:solidFill>
                <a:latin typeface="Consolas"/>
              </a:rPr>
              <a:t>n</a:t>
            </a:r>
            <a:r>
              <a:rPr sz="1050">
                <a:solidFill>
                  <a:srgbClr val="E2E8F0"/>
                </a:solidFill>
                <a:latin typeface="Consolas"/>
              </a:rPr>
              <a:t>        </a:t>
            </a:r>
            <a:r>
              <a:rPr sz="1050">
                <a:solidFill>
                  <a:srgbClr val="7DD39B"/>
                </a:solidFill>
                <a:latin typeface="Consolas"/>
              </a:rPr>
              <a:t>// масса = атомная масса × количество атомов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ДАННЫЕ → ВЁРСТКА · src/pages/PeriodicTable.jsx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Таблица Менделеева: из данных в сетку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08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Таблица строится циклом из массива элементов: чтобы добавить элемент, достаточно дописать строку в data/elements.js.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Место клетки определяется полями period и group, а лантаноиды и актиноиды выведены отдельными рядами, как в учебнике.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CSS Grid из 18 колонок держит все клетки одинаковыми, а размер в em позволяет масштабировать таблицу целиком.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Нажатие на клетку открывает карточку элемента: масса, конфигурация, степени окисления, год открытия.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7327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src/pages/PeriodicTable.jsx (сокращённо)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4215"/>
            <a:ext cx="10820095" cy="2112517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CELL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93C5FD"/>
                </a:solidFill>
                <a:latin typeface="Consolas"/>
              </a:rPr>
              <a:t>4.2</a:t>
            </a:r>
            <a:r>
              <a:rPr sz="1100">
                <a:solidFill>
                  <a:srgbClr val="E2E8F0"/>
                </a:solidFill>
                <a:latin typeface="Consolas"/>
              </a:rPr>
              <a:t>          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// размер клетки в em (масштабируется)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GROUPS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E2E8F0"/>
                </a:solidFill>
                <a:latin typeface="Consolas"/>
              </a:rPr>
              <a:t>Array.from</a:t>
            </a:r>
            <a:r>
              <a:rPr sz="1100">
                <a:solidFill>
                  <a:srgbClr val="E2E8F0"/>
                </a:solidFill>
                <a:latin typeface="Consolas"/>
              </a:rPr>
              <a:t>({ </a:t>
            </a:r>
            <a:r>
              <a:rPr sz="1100">
                <a:solidFill>
                  <a:srgbClr val="E2E8F0"/>
                </a:solidFill>
                <a:latin typeface="Consolas"/>
              </a:rPr>
              <a:t>length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93C5FD"/>
                </a:solidFill>
                <a:latin typeface="Consolas"/>
              </a:rPr>
              <a:t>18</a:t>
            </a:r>
            <a:r>
              <a:rPr sz="1100">
                <a:solidFill>
                  <a:srgbClr val="E2E8F0"/>
                </a:solidFill>
                <a:latin typeface="Consolas"/>
              </a:rPr>
              <a:t> }, (</a:t>
            </a:r>
            <a:r>
              <a:rPr sz="1100">
                <a:solidFill>
                  <a:srgbClr val="E2E8F0"/>
                </a:solidFill>
                <a:latin typeface="Consolas"/>
              </a:rPr>
              <a:t>_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i</a:t>
            </a:r>
            <a:r>
              <a:rPr sz="1100">
                <a:solidFill>
                  <a:srgbClr val="E2E8F0"/>
                </a:solidFill>
                <a:latin typeface="Consolas"/>
              </a:rPr>
              <a:t>) =&gt; </a:t>
            </a:r>
            <a:r>
              <a:rPr sz="1100">
                <a:solidFill>
                  <a:srgbClr val="E2E8F0"/>
                </a:solidFill>
                <a:latin typeface="Consolas"/>
              </a:rPr>
              <a:t>i</a:t>
            </a:r>
            <a:r>
              <a:rPr sz="1100">
                <a:solidFill>
                  <a:srgbClr val="E2E8F0"/>
                </a:solidFill>
                <a:latin typeface="Consolas"/>
              </a:rPr>
              <a:t> + </a:t>
            </a:r>
            <a:r>
              <a:rPr sz="1100">
                <a:solidFill>
                  <a:srgbClr val="93C5FD"/>
                </a:solidFill>
                <a:latin typeface="Consolas"/>
              </a:rPr>
              <a:t>1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</a:t>
            </a:r>
            <a:r>
              <a:rPr sz="1100">
                <a:solidFill>
                  <a:srgbClr val="E2E8F0"/>
                </a:solidFill>
                <a:latin typeface="Consolas"/>
              </a:rPr>
              <a:t>div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className</a:t>
            </a:r>
            <a:r>
              <a:rPr sz="1100">
                <a:solidFill>
                  <a:srgbClr val="E2E8F0"/>
                </a:solidFill>
                <a:latin typeface="Consolas"/>
              </a:rPr>
              <a:t>=</a:t>
            </a:r>
            <a:r>
              <a:rPr sz="1100">
                <a:solidFill>
                  <a:srgbClr val="FDD08A"/>
                </a:solidFill>
                <a:latin typeface="Consolas"/>
              </a:rPr>
              <a:t>"grid"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style</a:t>
            </a:r>
            <a:r>
              <a:rPr sz="1100">
                <a:solidFill>
                  <a:srgbClr val="E2E8F0"/>
                </a:solidFill>
                <a:latin typeface="Consolas"/>
              </a:rPr>
              <a:t>={{ </a:t>
            </a:r>
            <a:r>
              <a:rPr sz="1100">
                <a:solidFill>
                  <a:srgbClr val="E2E8F0"/>
                </a:solidFill>
                <a:latin typeface="Consolas"/>
              </a:rPr>
              <a:t>gridTemplateColumns</a:t>
            </a:r>
            <a:r>
              <a:rPr sz="1100">
                <a:solidFill>
                  <a:srgbClr val="E2E8F0"/>
                </a:solidFill>
                <a:latin typeface="Consolas"/>
              </a:rPr>
              <a:t>: `</a:t>
            </a:r>
            <a:r>
              <a:rPr sz="1100">
                <a:solidFill>
                  <a:srgbClr val="E2E8F0"/>
                </a:solidFill>
                <a:latin typeface="Consolas"/>
              </a:rPr>
              <a:t>repeat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93C5FD"/>
                </a:solidFill>
                <a:latin typeface="Consolas"/>
              </a:rPr>
              <a:t>18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$</a:t>
            </a: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  <a:r>
              <a:rPr sz="1100">
                <a:solidFill>
                  <a:srgbClr val="E2E8F0"/>
                </a:solidFill>
                <a:latin typeface="Consolas"/>
              </a:rPr>
              <a:t>CELL</a:t>
            </a: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  <a:r>
              <a:rPr sz="1100">
                <a:solidFill>
                  <a:srgbClr val="E2E8F0"/>
                </a:solidFill>
                <a:latin typeface="Consolas"/>
              </a:rPr>
              <a:t>em</a:t>
            </a:r>
            <a:r>
              <a:rPr sz="1100">
                <a:solidFill>
                  <a:srgbClr val="E2E8F0"/>
                </a:solidFill>
                <a:latin typeface="Consolas"/>
              </a:rPr>
              <a:t>)`, </a:t>
            </a:r>
            <a:r>
              <a:rPr sz="1100">
                <a:solidFill>
                  <a:srgbClr val="E2E8F0"/>
                </a:solidFill>
                <a:latin typeface="Consolas"/>
              </a:rPr>
              <a:t>gap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FDD08A"/>
                </a:solidFill>
                <a:latin typeface="Consolas"/>
              </a:rPr>
              <a:t>'0.4em'</a:t>
            </a:r>
            <a:r>
              <a:rPr sz="1100">
                <a:solidFill>
                  <a:srgbClr val="E2E8F0"/>
                </a:solidFill>
                <a:latin typeface="Consolas"/>
              </a:rPr>
              <a:t> }}&gt;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{[</a:t>
            </a:r>
            <a:r>
              <a:rPr sz="1100">
                <a:solidFill>
                  <a:srgbClr val="93C5FD"/>
                </a:solidFill>
                <a:latin typeface="Consolas"/>
              </a:rPr>
              <a:t>1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93C5FD"/>
                </a:solidFill>
                <a:latin typeface="Consolas"/>
              </a:rPr>
              <a:t>2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93C5FD"/>
                </a:solidFill>
                <a:latin typeface="Consolas"/>
              </a:rPr>
              <a:t>3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93C5FD"/>
                </a:solidFill>
                <a:latin typeface="Consolas"/>
              </a:rPr>
              <a:t>4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93C5FD"/>
                </a:solidFill>
                <a:latin typeface="Consolas"/>
              </a:rPr>
              <a:t>5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93C5FD"/>
                </a:solidFill>
                <a:latin typeface="Consolas"/>
              </a:rPr>
              <a:t>6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93C5FD"/>
                </a:solidFill>
                <a:latin typeface="Consolas"/>
              </a:rPr>
              <a:t>7</a:t>
            </a:r>
            <a:r>
              <a:rPr sz="1100">
                <a:solidFill>
                  <a:srgbClr val="E2E8F0"/>
                </a:solidFill>
                <a:latin typeface="Consolas"/>
              </a:rPr>
              <a:t>].</a:t>
            </a:r>
            <a:r>
              <a:rPr sz="1100">
                <a:solidFill>
                  <a:srgbClr val="E2E8F0"/>
                </a:solidFill>
                <a:latin typeface="Consolas"/>
              </a:rPr>
              <a:t>map</a:t>
            </a:r>
            <a:r>
              <a:rPr sz="1100">
                <a:solidFill>
                  <a:srgbClr val="E2E8F0"/>
                </a:solidFill>
                <a:latin typeface="Consolas"/>
              </a:rPr>
              <a:t>((</a:t>
            </a:r>
            <a:r>
              <a:rPr sz="1100">
                <a:solidFill>
                  <a:srgbClr val="E2E8F0"/>
                </a:solidFill>
                <a:latin typeface="Consolas"/>
              </a:rPr>
              <a:t>p</a:t>
            </a:r>
            <a:r>
              <a:rPr sz="1100">
                <a:solidFill>
                  <a:srgbClr val="E2E8F0"/>
                </a:solidFill>
                <a:latin typeface="Consolas"/>
              </a:rPr>
              <a:t>) =&gt; </a:t>
            </a:r>
            <a:r>
              <a:rPr sz="1100">
                <a:solidFill>
                  <a:srgbClr val="E2E8F0"/>
                </a:solidFill>
                <a:latin typeface="Consolas"/>
              </a:rPr>
              <a:t>gridRow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p</a:t>
            </a:r>
            <a:r>
              <a:rPr sz="1100">
                <a:solidFill>
                  <a:srgbClr val="E2E8F0"/>
                </a:solidFill>
                <a:latin typeface="Consolas"/>
              </a:rPr>
              <a:t>))}    {/* </a:t>
            </a:r>
            <a:r>
              <a:rPr sz="1100">
                <a:solidFill>
                  <a:srgbClr val="93C5FD"/>
                </a:solidFill>
                <a:latin typeface="Consolas"/>
              </a:rPr>
              <a:t>7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периодов</a:t>
            </a:r>
            <a:r>
              <a:rPr sz="1100">
                <a:solidFill>
                  <a:srgbClr val="E2E8F0"/>
                </a:solidFill>
                <a:latin typeface="Consolas"/>
              </a:rPr>
              <a:t> */}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&lt;/</a:t>
            </a:r>
            <a:r>
              <a:rPr sz="1100">
                <a:solidFill>
                  <a:srgbClr val="E2E8F0"/>
                </a:solidFill>
                <a:latin typeface="Consolas"/>
              </a:rPr>
              <a:t>div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7DD39B"/>
                </a:solidFill>
                <a:latin typeface="Consolas"/>
              </a:rPr>
              <a:t>// клетка: позиция — из period и group, цвет — из категории элемента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</a:t>
            </a:r>
            <a:r>
              <a:rPr sz="1100">
                <a:solidFill>
                  <a:srgbClr val="E2E8F0"/>
                </a:solidFill>
                <a:latin typeface="Consolas"/>
              </a:rPr>
              <a:t>button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style</a:t>
            </a:r>
            <a:r>
              <a:rPr sz="1100">
                <a:solidFill>
                  <a:srgbClr val="E2E8F0"/>
                </a:solidFill>
                <a:latin typeface="Consolas"/>
              </a:rPr>
              <a:t>={{ </a:t>
            </a:r>
            <a:r>
              <a:rPr sz="1100">
                <a:solidFill>
                  <a:srgbClr val="E2E8F0"/>
                </a:solidFill>
                <a:latin typeface="Consolas"/>
              </a:rPr>
              <a:t>background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CATEGORIES</a:t>
            </a:r>
            <a:r>
              <a:rPr sz="1100">
                <a:solidFill>
                  <a:srgbClr val="E2E8F0"/>
                </a:solidFill>
                <a:latin typeface="Consolas"/>
              </a:rPr>
              <a:t>[</a:t>
            </a:r>
            <a:r>
              <a:rPr sz="1100">
                <a:solidFill>
                  <a:srgbClr val="E2E8F0"/>
                </a:solidFill>
                <a:latin typeface="Consolas"/>
              </a:rPr>
              <a:t>el.cat</a:t>
            </a:r>
            <a:r>
              <a:rPr sz="1100">
                <a:solidFill>
                  <a:srgbClr val="E2E8F0"/>
                </a:solidFill>
                <a:latin typeface="Consolas"/>
              </a:rPr>
              <a:t>].</a:t>
            </a:r>
            <a:r>
              <a:rPr sz="1100">
                <a:solidFill>
                  <a:srgbClr val="E2E8F0"/>
                </a:solidFill>
                <a:latin typeface="Consolas"/>
              </a:rPr>
              <a:t>color</a:t>
            </a:r>
            <a:r>
              <a:rPr sz="1100">
                <a:solidFill>
                  <a:srgbClr val="E2E8F0"/>
                </a:solidFill>
                <a:latin typeface="Consolas"/>
              </a:rPr>
              <a:t> }} </a:t>
            </a:r>
            <a:r>
              <a:rPr sz="1100">
                <a:solidFill>
                  <a:srgbClr val="E2E8F0"/>
                </a:solidFill>
                <a:latin typeface="Consolas"/>
              </a:rPr>
              <a:t>onClick</a:t>
            </a:r>
            <a:r>
              <a:rPr sz="1100">
                <a:solidFill>
                  <a:srgbClr val="E2E8F0"/>
                </a:solidFill>
                <a:latin typeface="Consolas"/>
              </a:rPr>
              <a:t>={() =&gt; </a:t>
            </a:r>
            <a:r>
              <a:rPr sz="1100">
                <a:solidFill>
                  <a:srgbClr val="E2E8F0"/>
                </a:solidFill>
                <a:latin typeface="Consolas"/>
              </a:rPr>
              <a:t>setSelected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el</a:t>
            </a:r>
            <a:r>
              <a:rPr sz="1100">
                <a:solidFill>
                  <a:srgbClr val="E2E8F0"/>
                </a:solidFill>
                <a:latin typeface="Consolas"/>
              </a:rPr>
              <a:t>)}&gt;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&lt;</a:t>
            </a:r>
            <a:r>
              <a:rPr sz="1100">
                <a:solidFill>
                  <a:srgbClr val="E2E8F0"/>
                </a:solidFill>
                <a:latin typeface="Consolas"/>
              </a:rPr>
              <a:t>span</a:t>
            </a:r>
            <a:r>
              <a:rPr sz="1100">
                <a:solidFill>
                  <a:srgbClr val="E2E8F0"/>
                </a:solidFill>
                <a:latin typeface="Consolas"/>
              </a:rPr>
              <a:t>&gt;{</a:t>
            </a:r>
            <a:r>
              <a:rPr sz="1100">
                <a:solidFill>
                  <a:srgbClr val="E2E8F0"/>
                </a:solidFill>
                <a:latin typeface="Consolas"/>
              </a:rPr>
              <a:t>el.z</a:t>
            </a:r>
            <a:r>
              <a:rPr sz="1100">
                <a:solidFill>
                  <a:srgbClr val="E2E8F0"/>
                </a:solidFill>
                <a:latin typeface="Consolas"/>
              </a:rPr>
              <a:t>}&lt;/</a:t>
            </a:r>
            <a:r>
              <a:rPr sz="1100">
                <a:solidFill>
                  <a:srgbClr val="E2E8F0"/>
                </a:solidFill>
                <a:latin typeface="Consolas"/>
              </a:rPr>
              <a:t>span</a:t>
            </a:r>
            <a:r>
              <a:rPr sz="1100">
                <a:solidFill>
                  <a:srgbClr val="E2E8F0"/>
                </a:solidFill>
                <a:latin typeface="Consolas"/>
              </a:rPr>
              <a:t>&gt; &lt;</a:t>
            </a:r>
            <a:r>
              <a:rPr sz="1100">
                <a:solidFill>
                  <a:srgbClr val="E2E8F0"/>
                </a:solidFill>
                <a:latin typeface="Consolas"/>
              </a:rPr>
              <a:t>span</a:t>
            </a:r>
            <a:r>
              <a:rPr sz="1100">
                <a:solidFill>
                  <a:srgbClr val="E2E8F0"/>
                </a:solidFill>
                <a:latin typeface="Consolas"/>
              </a:rPr>
              <a:t>&gt;{</a:t>
            </a:r>
            <a:r>
              <a:rPr sz="1100">
                <a:solidFill>
                  <a:srgbClr val="E2E8F0"/>
                </a:solidFill>
                <a:latin typeface="Consolas"/>
              </a:rPr>
              <a:t>el.sym</a:t>
            </a:r>
            <a:r>
              <a:rPr sz="1100">
                <a:solidFill>
                  <a:srgbClr val="E2E8F0"/>
                </a:solidFill>
                <a:latin typeface="Consolas"/>
              </a:rPr>
              <a:t>}&lt;/</a:t>
            </a:r>
            <a:r>
              <a:rPr sz="1100">
                <a:solidFill>
                  <a:srgbClr val="E2E8F0"/>
                </a:solidFill>
                <a:latin typeface="Consolas"/>
              </a:rPr>
              <a:t>span</a:t>
            </a:r>
            <a:r>
              <a:rPr sz="1100">
                <a:solidFill>
                  <a:srgbClr val="E2E8F0"/>
                </a:solidFill>
                <a:latin typeface="Consolas"/>
              </a:rPr>
              <a:t>&gt; &lt;</a:t>
            </a:r>
            <a:r>
              <a:rPr sz="1100">
                <a:solidFill>
                  <a:srgbClr val="E2E8F0"/>
                </a:solidFill>
                <a:latin typeface="Consolas"/>
              </a:rPr>
              <a:t>span</a:t>
            </a:r>
            <a:r>
              <a:rPr sz="1100">
                <a:solidFill>
                  <a:srgbClr val="E2E8F0"/>
                </a:solidFill>
                <a:latin typeface="Consolas"/>
              </a:rPr>
              <a:t>&gt;{</a:t>
            </a:r>
            <a:r>
              <a:rPr sz="1100">
                <a:solidFill>
                  <a:srgbClr val="E2E8F0"/>
                </a:solidFill>
                <a:latin typeface="Consolas"/>
              </a:rPr>
              <a:t>el.mass</a:t>
            </a:r>
            <a:r>
              <a:rPr sz="1100">
                <a:solidFill>
                  <a:srgbClr val="E2E8F0"/>
                </a:solidFill>
                <a:latin typeface="Consolas"/>
              </a:rPr>
              <a:t>}&lt;/</a:t>
            </a:r>
            <a:r>
              <a:rPr sz="1100">
                <a:solidFill>
                  <a:srgbClr val="E2E8F0"/>
                </a:solidFill>
                <a:latin typeface="Consolas"/>
              </a:rPr>
              <a:t>span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&lt;/</a:t>
            </a:r>
            <a:r>
              <a:rPr sz="1100">
                <a:solidFill>
                  <a:srgbClr val="E2E8F0"/>
                </a:solidFill>
                <a:latin typeface="Consolas"/>
              </a:rPr>
              <a:t>button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СОСТОЯНИЕ + localStorage · src/lib/storage.js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Дневник опытов: хранение данных на устройстве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08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Дневник живёт в localStorage — встроенном хранилище браузера: данные не уходят на сервер и доступны без интернета.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В ключе есть версия (-v1): если структура записи изменится, можно перейти на новый формат, не теряя старые данные.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normalizeExperiment достраивает пропущенные поля, поэтому записи из прошлой версии приложения продолжают работать.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Чтение обёрнуто в try/catch: если данные повреждены, приложение вернёт пустой список вместо ошибки на экране.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7327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src/lib/storage.js — сохранение и чтение дневника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4215"/>
            <a:ext cx="10820095" cy="3305556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KEY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FDD08A"/>
                </a:solidFill>
                <a:latin typeface="Consolas"/>
              </a:rPr>
              <a:t>'chemlab-experiments-v1'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export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C4B5FD"/>
                </a:solidFill>
                <a:latin typeface="Consolas"/>
              </a:rPr>
              <a:t>function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loadExperiments</a:t>
            </a:r>
            <a:r>
              <a:rPr sz="1100">
                <a:solidFill>
                  <a:srgbClr val="E2E8F0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try</a:t>
            </a:r>
            <a:r>
              <a:rPr sz="1100">
                <a:solidFill>
                  <a:srgbClr val="E2E8F0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list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E2E8F0"/>
                </a:solidFill>
                <a:latin typeface="Consolas"/>
              </a:rPr>
              <a:t>JSON.parse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localStorage.getItem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KEY</a:t>
            </a:r>
            <a:r>
              <a:rPr sz="1100">
                <a:solidFill>
                  <a:srgbClr val="E2E8F0"/>
                </a:solidFill>
                <a:latin typeface="Consolas"/>
              </a:rPr>
              <a:t>) ?? </a:t>
            </a:r>
            <a:r>
              <a:rPr sz="1100">
                <a:solidFill>
                  <a:srgbClr val="FDD08A"/>
                </a:solidFill>
                <a:latin typeface="Consolas"/>
              </a:rPr>
              <a:t>'[]'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C4B5FD"/>
                </a:solidFill>
                <a:latin typeface="Consolas"/>
              </a:rPr>
              <a:t>return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Array.isArray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list</a:t>
            </a:r>
            <a:r>
              <a:rPr sz="1100">
                <a:solidFill>
                  <a:srgbClr val="E2E8F0"/>
                </a:solidFill>
                <a:latin typeface="Consolas"/>
              </a:rPr>
              <a:t>) ? </a:t>
            </a:r>
            <a:r>
              <a:rPr sz="1100">
                <a:solidFill>
                  <a:srgbClr val="E2E8F0"/>
                </a:solidFill>
                <a:latin typeface="Consolas"/>
              </a:rPr>
              <a:t>list.map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normalizeExperiment</a:t>
            </a:r>
            <a:r>
              <a:rPr sz="1100">
                <a:solidFill>
                  <a:srgbClr val="E2E8F0"/>
                </a:solidFill>
                <a:latin typeface="Consolas"/>
              </a:rPr>
              <a:t>) : []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} </a:t>
            </a:r>
            <a:r>
              <a:rPr sz="1100">
                <a:solidFill>
                  <a:srgbClr val="C4B5FD"/>
                </a:solidFill>
                <a:latin typeface="Consolas"/>
              </a:rPr>
              <a:t>catch</a:t>
            </a:r>
            <a:r>
              <a:rPr sz="1100">
                <a:solidFill>
                  <a:srgbClr val="E2E8F0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C4B5FD"/>
                </a:solidFill>
                <a:latin typeface="Consolas"/>
              </a:rPr>
              <a:t>return</a:t>
            </a:r>
            <a:r>
              <a:rPr sz="1100">
                <a:solidFill>
                  <a:srgbClr val="E2E8F0"/>
                </a:solidFill>
                <a:latin typeface="Consolas"/>
              </a:rPr>
              <a:t> []    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// повреждённые данные не ломают приложение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export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C4B5FD"/>
                </a:solidFill>
                <a:latin typeface="Consolas"/>
              </a:rPr>
              <a:t>function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saveExperiments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list</a:t>
            </a:r>
            <a:r>
              <a:rPr sz="1100">
                <a:solidFill>
                  <a:srgbClr val="E2E8F0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E2E8F0"/>
                </a:solidFill>
                <a:latin typeface="Consolas"/>
              </a:rPr>
              <a:t>localStorage.setItem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KEY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JSON.stringify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list</a:t>
            </a:r>
            <a:r>
              <a:rPr sz="1100">
                <a:solidFill>
                  <a:srgbClr val="E2E8F0"/>
                </a:solidFill>
                <a:latin typeface="Consolas"/>
              </a:rPr>
              <a:t>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export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C4B5FD"/>
                </a:solidFill>
                <a:latin typeface="Consolas"/>
              </a:rPr>
              <a:t>function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uid</a:t>
            </a:r>
            <a:r>
              <a:rPr sz="1100">
                <a:solidFill>
                  <a:srgbClr val="E2E8F0"/>
                </a:solidFill>
                <a:latin typeface="Consolas"/>
              </a:rPr>
              <a:t>() {        </a:t>
            </a:r>
            <a:r>
              <a:rPr sz="1100">
                <a:solidFill>
                  <a:srgbClr val="7DD39B"/>
                </a:solidFill>
                <a:latin typeface="Consolas"/>
              </a:rPr>
              <a:t>// уникальный id записи или шага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return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crypto.randomUUID</a:t>
            </a:r>
            <a:r>
              <a:rPr sz="1100">
                <a:solidFill>
                  <a:srgbClr val="E2E8F0"/>
                </a:solidFill>
                <a:latin typeface="Consolas"/>
              </a:rPr>
              <a:t>?.() ?? `</a:t>
            </a:r>
            <a:r>
              <a:rPr sz="1100">
                <a:solidFill>
                  <a:srgbClr val="E2E8F0"/>
                </a:solidFill>
                <a:latin typeface="Consolas"/>
              </a:rPr>
              <a:t>$</a:t>
            </a: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  <a:r>
              <a:rPr sz="1100">
                <a:solidFill>
                  <a:srgbClr val="E2E8F0"/>
                </a:solidFill>
                <a:latin typeface="Consolas"/>
              </a:rPr>
              <a:t>Date.now</a:t>
            </a:r>
            <a:r>
              <a:rPr sz="1100">
                <a:solidFill>
                  <a:srgbClr val="E2E8F0"/>
                </a:solidFill>
                <a:latin typeface="Consolas"/>
              </a:rPr>
              <a:t>()}-...`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КОНТЕКСТ + CSS-ПЕРЕМЕННЫЕ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Темы оформления: тёмная и AMOLED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24712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src/lib/ThemeProvider.jsx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71600"/>
            <a:ext cx="10820095" cy="148501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DD39B"/>
                </a:solidFill>
                <a:latin typeface="Consolas"/>
              </a:rPr>
              <a:t>// src/lib/ThemeProvider.jsx — тема вешается атрибутом на &lt;html&gt;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useEffect</a:t>
            </a:r>
            <a:r>
              <a:rPr sz="1150">
                <a:solidFill>
                  <a:srgbClr val="E2E8F0"/>
                </a:solidFill>
                <a:latin typeface="Consolas"/>
              </a:rPr>
              <a:t>(()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E2E8F0"/>
                </a:solidFill>
                <a:latin typeface="Consolas"/>
              </a:rPr>
              <a:t>document.documentElement.dataset.theme</a:t>
            </a:r>
            <a:r>
              <a:rPr sz="1150">
                <a:solidFill>
                  <a:srgbClr val="E2E8F0"/>
                </a:solidFill>
                <a:latin typeface="Consolas"/>
              </a:rPr>
              <a:t> = </a:t>
            </a:r>
            <a:r>
              <a:rPr sz="1150">
                <a:solidFill>
                  <a:srgbClr val="E2E8F0"/>
                </a:solidFill>
                <a:latin typeface="Consolas"/>
              </a:rPr>
              <a:t>theme</a:t>
            </a:r>
            <a:r>
              <a:rPr sz="1150">
                <a:solidFill>
                  <a:srgbClr val="E2E8F0"/>
                </a:solidFill>
                <a:latin typeface="Consolas"/>
              </a:rPr>
              <a:t>          </a:t>
            </a:r>
            <a:r>
              <a:rPr sz="1150">
                <a:solidFill>
                  <a:srgbClr val="7DD39B"/>
                </a:solidFill>
                <a:latin typeface="Consolas"/>
              </a:rPr>
              <a:t>// &lt;html data-theme="amoled"&gt;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E2E8F0"/>
                </a:solidFill>
                <a:latin typeface="Consolas"/>
              </a:rPr>
              <a:t>document.querySelector</a:t>
            </a:r>
            <a:r>
              <a:rPr sz="1150">
                <a:solidFill>
                  <a:srgbClr val="E2E8F0"/>
                </a:solidFill>
                <a:latin typeface="Consolas"/>
              </a:rPr>
              <a:t>(</a:t>
            </a:r>
            <a:r>
              <a:rPr sz="1150">
                <a:solidFill>
                  <a:srgbClr val="FDD08A"/>
                </a:solidFill>
                <a:latin typeface="Consolas"/>
              </a:rPr>
              <a:t>'meta[name="theme-color"]'</a:t>
            </a:r>
            <a:r>
              <a:rPr sz="11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?.</a:t>
            </a:r>
            <a:r>
              <a:rPr sz="1150">
                <a:solidFill>
                  <a:srgbClr val="E2E8F0"/>
                </a:solidFill>
                <a:latin typeface="Consolas"/>
              </a:rPr>
              <a:t>setAttribute</a:t>
            </a:r>
            <a:r>
              <a:rPr sz="1150">
                <a:solidFill>
                  <a:srgbClr val="E2E8F0"/>
                </a:solidFill>
                <a:latin typeface="Consolas"/>
              </a:rPr>
              <a:t>(</a:t>
            </a:r>
            <a:r>
              <a:rPr sz="1150">
                <a:solidFill>
                  <a:srgbClr val="FDD08A"/>
                </a:solidFill>
                <a:latin typeface="Consolas"/>
              </a:rPr>
              <a:t>'content'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E2E8F0"/>
                </a:solidFill>
                <a:latin typeface="Consolas"/>
              </a:rPr>
              <a:t>THEME_COLORS</a:t>
            </a:r>
            <a:r>
              <a:rPr sz="1150">
                <a:solidFill>
                  <a:srgbClr val="E2E8F0"/>
                </a:solidFill>
                <a:latin typeface="Consolas"/>
              </a:rPr>
              <a:t>[</a:t>
            </a:r>
            <a:r>
              <a:rPr sz="1150">
                <a:solidFill>
                  <a:srgbClr val="E2E8F0"/>
                </a:solidFill>
                <a:latin typeface="Consolas"/>
              </a:rPr>
              <a:t>theme</a:t>
            </a:r>
            <a:r>
              <a:rPr sz="1150">
                <a:solidFill>
                  <a:srgbClr val="E2E8F0"/>
                </a:solidFill>
                <a:latin typeface="Consolas"/>
              </a:rPr>
              <a:t>])        </a:t>
            </a:r>
            <a:r>
              <a:rPr sz="1150">
                <a:solidFill>
                  <a:srgbClr val="7DD39B"/>
                </a:solidFill>
                <a:latin typeface="Consolas"/>
              </a:rPr>
              <a:t>// цвет строки браузера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E2E8F0"/>
                </a:solidFill>
                <a:latin typeface="Consolas"/>
              </a:rPr>
              <a:t>localStorage.setItem</a:t>
            </a:r>
            <a:r>
              <a:rPr sz="1150">
                <a:solidFill>
                  <a:srgbClr val="E2E8F0"/>
                </a:solidFill>
                <a:latin typeface="Consolas"/>
              </a:rPr>
              <a:t>(</a:t>
            </a:r>
            <a:r>
              <a:rPr sz="1150">
                <a:solidFill>
                  <a:srgbClr val="FDD08A"/>
                </a:solidFill>
                <a:latin typeface="Consolas"/>
              </a:rPr>
              <a:t>'chemlab-theme-v1'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E2E8F0"/>
                </a:solidFill>
                <a:latin typeface="Consolas"/>
              </a:rPr>
              <a:t>theme</a:t>
            </a:r>
            <a:r>
              <a:rPr sz="1150">
                <a:solidFill>
                  <a:srgbClr val="E2E8F0"/>
                </a:solidFill>
                <a:latin typeface="Consolas"/>
              </a:rPr>
              <a:t>)         </a:t>
            </a:r>
            <a:r>
              <a:rPr sz="1150">
                <a:solidFill>
                  <a:srgbClr val="7DD39B"/>
                </a:solidFill>
                <a:latin typeface="Consolas"/>
              </a:rPr>
              <a:t>// выбор запоминается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}, [</a:t>
            </a:r>
            <a:r>
              <a:rPr sz="1150">
                <a:solidFill>
                  <a:srgbClr val="E2E8F0"/>
                </a:solidFill>
                <a:latin typeface="Consolas"/>
              </a:rPr>
              <a:t>theme</a:t>
            </a:r>
            <a:r>
              <a:rPr sz="1150">
                <a:solidFill>
                  <a:srgbClr val="E2E8F0"/>
                </a:solidFill>
                <a:latin typeface="Consolas"/>
              </a:rPr>
              <a:t>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Темы как набор CSS-переменных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10820095" cy="112864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/* </a:t>
            </a:r>
            <a:r>
              <a:rPr sz="1150">
                <a:solidFill>
                  <a:srgbClr val="E2E8F0"/>
                </a:solidFill>
                <a:latin typeface="Consolas"/>
              </a:rPr>
              <a:t>src</a:t>
            </a:r>
            <a:r>
              <a:rPr sz="1150">
                <a:solidFill>
                  <a:srgbClr val="E2E8F0"/>
                </a:solidFill>
                <a:latin typeface="Consolas"/>
              </a:rPr>
              <a:t>/</a:t>
            </a:r>
            <a:r>
              <a:rPr sz="1150">
                <a:solidFill>
                  <a:srgbClr val="E2E8F0"/>
                </a:solidFill>
                <a:latin typeface="Consolas"/>
              </a:rPr>
              <a:t>index.css</a:t>
            </a:r>
            <a:r>
              <a:rPr sz="1150">
                <a:solidFill>
                  <a:srgbClr val="E2E8F0"/>
                </a:solidFill>
                <a:latin typeface="Consolas"/>
              </a:rPr>
              <a:t> */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:</a:t>
            </a:r>
            <a:r>
              <a:rPr sz="1150">
                <a:solidFill>
                  <a:srgbClr val="E2E8F0"/>
                </a:solidFill>
                <a:latin typeface="Consolas"/>
              </a:rPr>
              <a:t>root</a:t>
            </a:r>
            <a:r>
              <a:rPr sz="1150">
                <a:solidFill>
                  <a:srgbClr val="E2E8F0"/>
                </a:solidFill>
                <a:latin typeface="Consolas"/>
              </a:rPr>
              <a:t>                      { --</a:t>
            </a:r>
            <a:r>
              <a:rPr sz="1150">
                <a:solidFill>
                  <a:srgbClr val="E2E8F0"/>
                </a:solidFill>
                <a:latin typeface="Consolas"/>
              </a:rPr>
              <a:t>page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7DD39B"/>
                </a:solidFill>
                <a:latin typeface="Consolas"/>
              </a:rPr>
              <a:t>#0f1219; }   /* тёмно-синий фон  */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:</a:t>
            </a:r>
            <a:r>
              <a:rPr sz="1150">
                <a:solidFill>
                  <a:srgbClr val="E2E8F0"/>
                </a:solidFill>
                <a:latin typeface="Consolas"/>
              </a:rPr>
              <a:t>root</a:t>
            </a:r>
            <a:r>
              <a:rPr sz="1150">
                <a:solidFill>
                  <a:srgbClr val="E2E8F0"/>
                </a:solidFill>
                <a:latin typeface="Consolas"/>
              </a:rPr>
              <a:t>[</a:t>
            </a:r>
            <a:r>
              <a:rPr sz="1150">
                <a:solidFill>
                  <a:srgbClr val="E2E8F0"/>
                </a:solidFill>
                <a:latin typeface="Consolas"/>
              </a:rPr>
              <a:t>data-theme</a:t>
            </a:r>
            <a:r>
              <a:rPr sz="1150">
                <a:solidFill>
                  <a:srgbClr val="E2E8F0"/>
                </a:solidFill>
                <a:latin typeface="Consolas"/>
              </a:rPr>
              <a:t>=</a:t>
            </a:r>
            <a:r>
              <a:rPr sz="1150">
                <a:solidFill>
                  <a:srgbClr val="FDD08A"/>
                </a:solidFill>
                <a:latin typeface="Consolas"/>
              </a:rPr>
              <a:t>'amoled'</a:t>
            </a:r>
            <a:r>
              <a:rPr sz="1150">
                <a:solidFill>
                  <a:srgbClr val="E2E8F0"/>
                </a:solidFill>
                <a:latin typeface="Consolas"/>
              </a:rPr>
              <a:t>] { --</a:t>
            </a:r>
            <a:r>
              <a:rPr sz="1150">
                <a:solidFill>
                  <a:srgbClr val="E2E8F0"/>
                </a:solidFill>
                <a:latin typeface="Consolas"/>
              </a:rPr>
              <a:t>page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7DD39B"/>
                </a:solidFill>
                <a:latin typeface="Consolas"/>
              </a:rPr>
              <a:t>#000000; }   /* чистый чёрный    */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.</a:t>
            </a:r>
            <a:r>
              <a:rPr sz="1150">
                <a:solidFill>
                  <a:srgbClr val="E2E8F0"/>
                </a:solidFill>
                <a:latin typeface="Consolas"/>
              </a:rPr>
              <a:t>app-bg</a:t>
            </a:r>
            <a:r>
              <a:rPr sz="1150">
                <a:solidFill>
                  <a:srgbClr val="E2E8F0"/>
                </a:solidFill>
                <a:latin typeface="Consolas"/>
              </a:rPr>
              <a:t> { </a:t>
            </a:r>
            <a:r>
              <a:rPr sz="1150">
                <a:solidFill>
                  <a:srgbClr val="E2E8F0"/>
                </a:solidFill>
                <a:latin typeface="Consolas"/>
              </a:rPr>
              <a:t>background-color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C4B5FD"/>
                </a:solidFill>
                <a:latin typeface="Consolas"/>
              </a:rPr>
              <a:t>var</a:t>
            </a:r>
            <a:r>
              <a:rPr sz="1150">
                <a:solidFill>
                  <a:srgbClr val="E2E8F0"/>
                </a:solidFill>
                <a:latin typeface="Consolas"/>
              </a:rPr>
              <a:t>(--</a:t>
            </a:r>
            <a:r>
              <a:rPr sz="1150">
                <a:solidFill>
                  <a:srgbClr val="E2E8F0"/>
                </a:solidFill>
                <a:latin typeface="Consolas"/>
              </a:rPr>
              <a:t>page</a:t>
            </a:r>
            <a:r>
              <a:rPr sz="1150">
                <a:solidFill>
                  <a:srgbClr val="E2E8F0"/>
                </a:solidFill>
                <a:latin typeface="Consolas"/>
              </a:rPr>
              <a:t>);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17720"/>
            <a:ext cx="10820095" cy="1049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7C3AED"/>
                </a:solidFill>
                <a:latin typeface="Arial"/>
              </a:rPr>
              <a:t>▸ </a:t>
            </a:r>
            <a:r>
              <a:rPr sz="1250" b="0">
                <a:solidFill>
                  <a:srgbClr val="1F2937"/>
                </a:solidFill>
                <a:latin typeface="Arial"/>
              </a:rPr>
              <a:t>Тема — это атрибут data-theme у &lt;html&gt;, а цвета — CSS-переменные: при переключении не нужно перерисовывать компоненты.</a:t>
            </a:r>
          </a:p>
          <a:p>
            <a:pPr algn="l">
              <a:lnSpc>
                <a:spcPct val="122000"/>
              </a:lnSpc>
            </a:pPr>
            <a:r>
              <a:rPr sz="1250" b="1">
                <a:solidFill>
                  <a:srgbClr val="7C3AED"/>
                </a:solidFill>
                <a:latin typeface="Arial"/>
              </a:rPr>
              <a:t>▸ </a:t>
            </a:r>
            <a:r>
              <a:rPr sz="1250" b="0">
                <a:solidFill>
                  <a:srgbClr val="1F2937"/>
                </a:solidFill>
                <a:latin typeface="Arial"/>
              </a:rPr>
              <a:t>AMOLED-тема убирает фон-градиент и делает панели прозрачнее: на OLED-экранах меньше свечения и расход батареи.</a:t>
            </a:r>
          </a:p>
          <a:p>
            <a:pPr algn="l">
              <a:lnSpc>
                <a:spcPct val="122000"/>
              </a:lnSpc>
            </a:pPr>
            <a:r>
              <a:rPr sz="1250" b="1">
                <a:solidFill>
                  <a:srgbClr val="7C3AED"/>
                </a:solidFill>
                <a:latin typeface="Arial"/>
              </a:rPr>
              <a:t>▸ </a:t>
            </a:r>
            <a:r>
              <a:rPr sz="1250" b="0">
                <a:solidFill>
                  <a:srgbClr val="1F2937"/>
                </a:solidFill>
                <a:latin typeface="Arial"/>
              </a:rPr>
              <a:t>Выбор сохраняется в localStorage и применяется при следующем запуске; цвет строки состояния тоже обновляется.</a:t>
            </a:r>
          </a:p>
          <a:p>
            <a:pPr algn="l">
              <a:lnSpc>
                <a:spcPct val="122000"/>
              </a:lnSpc>
            </a:pPr>
            <a:r>
              <a:rPr sz="1250" b="1">
                <a:solidFill>
                  <a:srgbClr val="7C3AED"/>
                </a:solidFill>
                <a:latin typeface="Arial"/>
              </a:rPr>
              <a:t>▸ </a:t>
            </a:r>
            <a:r>
              <a:rPr sz="1250" b="0">
                <a:solidFill>
                  <a:srgbClr val="1F2937"/>
                </a:solidFill>
                <a:latin typeface="Arial"/>
              </a:rPr>
              <a:t>Любой экран получает тему через хук useTheme(), без «протаскивания» настроек через все компоненты.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ПРОБЛЕМА → РЕШЕНИЕ · src/lib/useZoom.js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Масштаб больших таблиц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08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Идея: размеры клеток заданы в em, а масштаб — это размер шрифта их контейнера. Одна переменная увеличивает всю таблицу.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Сначала я попробовал CSS-свойство zoom, но оно «съезжало» с закреплённых заголовков при прокрутке — поэтому отказался.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Кнопка ⤢ умещает таблицу по ширине экрана: нужный масштаб считается из ширины контейнера через ResizeObserver.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Выбранный масштаб сохраняется в localStorage — при следующем открытии таблица выглядит так же.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7327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src/lib/useZoom.js + src/pages/PeriodicTable.jsx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4215"/>
            <a:ext cx="10820095" cy="2112517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UNIT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93C5FD"/>
                </a:solidFill>
                <a:latin typeface="Consolas"/>
              </a:rPr>
              <a:t>10</a:t>
            </a:r>
            <a:r>
              <a:rPr sz="1100">
                <a:solidFill>
                  <a:srgbClr val="E2E8F0"/>
                </a:solidFill>
                <a:latin typeface="Consolas"/>
              </a:rPr>
              <a:t>                    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// базовый размер шрифта, px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{ </a:t>
            </a:r>
            <a:r>
              <a:rPr sz="1100">
                <a:solidFill>
                  <a:srgbClr val="E2E8F0"/>
                </a:solidFill>
                <a:latin typeface="Consolas"/>
              </a:rPr>
              <a:t>zoom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zoomIn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zoomOut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reset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setZoom</a:t>
            </a:r>
            <a:r>
              <a:rPr sz="1100">
                <a:solidFill>
                  <a:srgbClr val="E2E8F0"/>
                </a:solidFill>
                <a:latin typeface="Consolas"/>
              </a:rPr>
              <a:t> } = </a:t>
            </a:r>
            <a:r>
              <a:rPr sz="1100">
                <a:solidFill>
                  <a:srgbClr val="E2E8F0"/>
                </a:solidFill>
                <a:latin typeface="Consolas"/>
              </a:rPr>
              <a:t>useZoom</a:t>
            </a:r>
            <a:r>
              <a:rPr sz="1100">
                <a:solidFill>
                  <a:srgbClr val="E2E8F0"/>
                </a:solidFill>
                <a:latin typeface="Consolas"/>
              </a:rPr>
              <a:t>({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E2E8F0"/>
                </a:solidFill>
                <a:latin typeface="Consolas"/>
              </a:rPr>
              <a:t>min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93C5FD"/>
                </a:solidFill>
                <a:latin typeface="Consolas"/>
              </a:rPr>
              <a:t>0.4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max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93C5FD"/>
                </a:solidFill>
                <a:latin typeface="Consolas"/>
              </a:rPr>
              <a:t>1.8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step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93C5FD"/>
                </a:solidFill>
                <a:latin typeface="Consolas"/>
              </a:rPr>
              <a:t>0.1</a:t>
            </a:r>
            <a:r>
              <a:rPr sz="11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E2E8F0"/>
                </a:solidFill>
                <a:latin typeface="Consolas"/>
              </a:rPr>
              <a:t>storageKey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FDD08A"/>
                </a:solidFill>
                <a:latin typeface="Consolas"/>
              </a:rPr>
              <a:t>'chemlab-zoom-table'</a:t>
            </a:r>
            <a:r>
              <a:rPr sz="1100">
                <a:solidFill>
                  <a:srgbClr val="E2E8F0"/>
                </a:solidFill>
                <a:latin typeface="Consolas"/>
              </a:rPr>
              <a:t>,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// масштаб запоминается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</a:t>
            </a:r>
            <a:r>
              <a:rPr sz="1100">
                <a:solidFill>
                  <a:srgbClr val="E2E8F0"/>
                </a:solidFill>
                <a:latin typeface="Consolas"/>
              </a:rPr>
              <a:t>div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style</a:t>
            </a:r>
            <a:r>
              <a:rPr sz="1100">
                <a:solidFill>
                  <a:srgbClr val="E2E8F0"/>
                </a:solidFill>
                <a:latin typeface="Consolas"/>
              </a:rPr>
              <a:t>={{ </a:t>
            </a:r>
            <a:r>
              <a:rPr sz="1100">
                <a:solidFill>
                  <a:srgbClr val="E2E8F0"/>
                </a:solidFill>
                <a:latin typeface="Consolas"/>
              </a:rPr>
              <a:t>fontSize</a:t>
            </a:r>
            <a:r>
              <a:rPr sz="1100">
                <a:solidFill>
                  <a:srgbClr val="E2E8F0"/>
                </a:solidFill>
                <a:latin typeface="Consolas"/>
              </a:rPr>
              <a:t>: `</a:t>
            </a:r>
            <a:r>
              <a:rPr sz="1100">
                <a:solidFill>
                  <a:srgbClr val="E2E8F0"/>
                </a:solidFill>
                <a:latin typeface="Consolas"/>
              </a:rPr>
              <a:t>$</a:t>
            </a: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  <a:r>
              <a:rPr sz="1100">
                <a:solidFill>
                  <a:srgbClr val="E2E8F0"/>
                </a:solidFill>
                <a:latin typeface="Consolas"/>
              </a:rPr>
              <a:t>zoom</a:t>
            </a:r>
            <a:r>
              <a:rPr sz="1100">
                <a:solidFill>
                  <a:srgbClr val="E2E8F0"/>
                </a:solidFill>
                <a:latin typeface="Consolas"/>
              </a:rPr>
              <a:t> * </a:t>
            </a:r>
            <a:r>
              <a:rPr sz="1100">
                <a:solidFill>
                  <a:srgbClr val="E2E8F0"/>
                </a:solidFill>
                <a:latin typeface="Consolas"/>
              </a:rPr>
              <a:t>UNIT</a:t>
            </a: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  <a:r>
              <a:rPr sz="1100">
                <a:solidFill>
                  <a:srgbClr val="E2E8F0"/>
                </a:solidFill>
                <a:latin typeface="Consolas"/>
              </a:rPr>
              <a:t>px</a:t>
            </a:r>
            <a:r>
              <a:rPr sz="1100">
                <a:solidFill>
                  <a:srgbClr val="E2E8F0"/>
                </a:solidFill>
                <a:latin typeface="Consolas"/>
              </a:rPr>
              <a:t>` }}&gt;   {/* </a:t>
            </a:r>
            <a:r>
              <a:rPr sz="1100">
                <a:solidFill>
                  <a:srgbClr val="E2E8F0"/>
                </a:solidFill>
                <a:latin typeface="Consolas"/>
              </a:rPr>
              <a:t>масштаб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задаётся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контейнеру</a:t>
            </a:r>
            <a:r>
              <a:rPr sz="1100">
                <a:solidFill>
                  <a:srgbClr val="E2E8F0"/>
                </a:solidFill>
                <a:latin typeface="Consolas"/>
              </a:rPr>
              <a:t> */}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&lt;</a:t>
            </a:r>
            <a:r>
              <a:rPr sz="1100">
                <a:solidFill>
                  <a:srgbClr val="E2E8F0"/>
                </a:solidFill>
                <a:latin typeface="Consolas"/>
              </a:rPr>
              <a:t>div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style</a:t>
            </a:r>
            <a:r>
              <a:rPr sz="1100">
                <a:solidFill>
                  <a:srgbClr val="E2E8F0"/>
                </a:solidFill>
                <a:latin typeface="Consolas"/>
              </a:rPr>
              <a:t>={{ </a:t>
            </a:r>
            <a:r>
              <a:rPr sz="1100">
                <a:solidFill>
                  <a:srgbClr val="E2E8F0"/>
                </a:solidFill>
                <a:latin typeface="Consolas"/>
              </a:rPr>
              <a:t>gridTemplateColumns</a:t>
            </a:r>
            <a:r>
              <a:rPr sz="1100">
                <a:solidFill>
                  <a:srgbClr val="E2E8F0"/>
                </a:solidFill>
                <a:latin typeface="Consolas"/>
              </a:rPr>
              <a:t>: `</a:t>
            </a:r>
            <a:r>
              <a:rPr sz="1100">
                <a:solidFill>
                  <a:srgbClr val="E2E8F0"/>
                </a:solidFill>
                <a:latin typeface="Consolas"/>
              </a:rPr>
              <a:t>repeat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93C5FD"/>
                </a:solidFill>
                <a:latin typeface="Consolas"/>
              </a:rPr>
              <a:t>18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93C5FD"/>
                </a:solidFill>
                <a:latin typeface="Consolas"/>
              </a:rPr>
              <a:t>4</a:t>
            </a:r>
            <a:r>
              <a:rPr sz="1100">
                <a:solidFill>
                  <a:srgbClr val="E2E8F0"/>
                </a:solidFill>
                <a:latin typeface="Consolas"/>
              </a:rPr>
              <a:t>.2</a:t>
            </a:r>
            <a:r>
              <a:rPr sz="1100">
                <a:solidFill>
                  <a:srgbClr val="E2E8F0"/>
                </a:solidFill>
                <a:latin typeface="Consolas"/>
              </a:rPr>
              <a:t>em</a:t>
            </a:r>
            <a:r>
              <a:rPr sz="1100">
                <a:solidFill>
                  <a:srgbClr val="E2E8F0"/>
                </a:solidFill>
                <a:latin typeface="Consolas"/>
              </a:rPr>
              <a:t>)`, </a:t>
            </a:r>
            <a:r>
              <a:rPr sz="1100">
                <a:solidFill>
                  <a:srgbClr val="E2E8F0"/>
                </a:solidFill>
                <a:latin typeface="Consolas"/>
              </a:rPr>
              <a:t>gap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FDD08A"/>
                </a:solidFill>
                <a:latin typeface="Consolas"/>
              </a:rPr>
              <a:t>'0.4em'</a:t>
            </a:r>
            <a:r>
              <a:rPr sz="1100">
                <a:solidFill>
                  <a:srgbClr val="E2E8F0"/>
                </a:solidFill>
                <a:latin typeface="Consolas"/>
              </a:rPr>
              <a:t> }}&gt;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{/* </a:t>
            </a:r>
            <a:r>
              <a:rPr sz="1100">
                <a:solidFill>
                  <a:srgbClr val="E2E8F0"/>
                </a:solidFill>
                <a:latin typeface="Consolas"/>
              </a:rPr>
              <a:t>все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размеры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клеток</a:t>
            </a:r>
            <a:r>
              <a:rPr sz="1100">
                <a:solidFill>
                  <a:srgbClr val="E2E8F0"/>
                </a:solidFill>
                <a:latin typeface="Consolas"/>
              </a:rPr>
              <a:t> — </a:t>
            </a:r>
            <a:r>
              <a:rPr sz="1100">
                <a:solidFill>
                  <a:srgbClr val="E2E8F0"/>
                </a:solidFill>
                <a:latin typeface="Consolas"/>
              </a:rPr>
              <a:t>в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em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растут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вместе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со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шрифтом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контейнера</a:t>
            </a:r>
            <a:r>
              <a:rPr sz="1100">
                <a:solidFill>
                  <a:srgbClr val="E2E8F0"/>
                </a:solidFill>
                <a:latin typeface="Consolas"/>
              </a:rPr>
              <a:t> */}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&lt;/</a:t>
            </a:r>
            <a:r>
              <a:rPr sz="1100">
                <a:solidFill>
                  <a:srgbClr val="E2E8F0"/>
                </a:solidFill>
                <a:latin typeface="Consolas"/>
              </a:rPr>
              <a:t>div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&lt;/</a:t>
            </a:r>
            <a:r>
              <a:rPr sz="1100">
                <a:solidFill>
                  <a:srgbClr val="E2E8F0"/>
                </a:solidFill>
                <a:latin typeface="Consolas"/>
              </a:rPr>
              <a:t>div</a:t>
            </a:r>
            <a:r>
              <a:rPr sz="1100">
                <a:solidFill>
                  <a:srgbClr val="E2E8F0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СЕТЬ + СРАВНЕНИЕ ВЕРСИЙ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Проверка обновлений при запуске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080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Версии сравниваю по числам, а не как строки: иначе «1.10» оказалось бы «меньше» «1.9» — классическая ошибка.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Файл version.json генерируется при сборке: версия, номер сборки, список изменений и ссылка на новую сборку для Android.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Параметр cache: "no-store" и метка времени в адресе не дают браузеру отдать старый файл из кэша.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Если сети нет, ошибка перехватывается молча — приложение продолжает работать как обычно.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7327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src/lib/updates.js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4215"/>
            <a:ext cx="10820095" cy="279425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export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C4B5FD"/>
                </a:solidFill>
                <a:latin typeface="Consolas"/>
              </a:rPr>
              <a:t>function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compareVersions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a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b</a:t>
            </a:r>
            <a:r>
              <a:rPr sz="1100">
                <a:solidFill>
                  <a:srgbClr val="E2E8F0"/>
                </a:solidFill>
                <a:latin typeface="Consolas"/>
              </a:rPr>
              <a:t>) {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// '1.10.0' &gt; '1.9.0'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x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E2E8F0"/>
                </a:solidFill>
                <a:latin typeface="Consolas"/>
              </a:rPr>
              <a:t>a.split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FDD08A"/>
                </a:solidFill>
                <a:latin typeface="Consolas"/>
              </a:rPr>
              <a:t>'.'</a:t>
            </a:r>
            <a:r>
              <a:rPr sz="1100">
                <a:solidFill>
                  <a:srgbClr val="E2E8F0"/>
                </a:solidFill>
                <a:latin typeface="Consolas"/>
              </a:rPr>
              <a:t>).</a:t>
            </a:r>
            <a:r>
              <a:rPr sz="1100">
                <a:solidFill>
                  <a:srgbClr val="E2E8F0"/>
                </a:solidFill>
                <a:latin typeface="Consolas"/>
              </a:rPr>
              <a:t>map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Number</a:t>
            </a:r>
            <a:r>
              <a:rPr sz="1100">
                <a:solidFill>
                  <a:srgbClr val="E2E8F0"/>
                </a:solidFill>
                <a:latin typeface="Consolas"/>
              </a:rPr>
              <a:t>), </a:t>
            </a:r>
            <a:r>
              <a:rPr sz="1100">
                <a:solidFill>
                  <a:srgbClr val="E2E8F0"/>
                </a:solidFill>
                <a:latin typeface="Consolas"/>
              </a:rPr>
              <a:t>y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E2E8F0"/>
                </a:solidFill>
                <a:latin typeface="Consolas"/>
              </a:rPr>
              <a:t>b.split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FDD08A"/>
                </a:solidFill>
                <a:latin typeface="Consolas"/>
              </a:rPr>
              <a:t>'.'</a:t>
            </a:r>
            <a:r>
              <a:rPr sz="1100">
                <a:solidFill>
                  <a:srgbClr val="E2E8F0"/>
                </a:solidFill>
                <a:latin typeface="Consolas"/>
              </a:rPr>
              <a:t>).</a:t>
            </a:r>
            <a:r>
              <a:rPr sz="1100">
                <a:solidFill>
                  <a:srgbClr val="E2E8F0"/>
                </a:solidFill>
                <a:latin typeface="Consolas"/>
              </a:rPr>
              <a:t>map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Number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for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C4B5FD"/>
                </a:solidFill>
                <a:latin typeface="Consolas"/>
              </a:rPr>
              <a:t>let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i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93C5FD"/>
                </a:solidFill>
                <a:latin typeface="Consolas"/>
              </a:rPr>
              <a:t>0</a:t>
            </a:r>
            <a:r>
              <a:rPr sz="1100">
                <a:solidFill>
                  <a:srgbClr val="E2E8F0"/>
                </a:solidFill>
                <a:latin typeface="Consolas"/>
              </a:rPr>
              <a:t>; </a:t>
            </a:r>
            <a:r>
              <a:rPr sz="1100">
                <a:solidFill>
                  <a:srgbClr val="E2E8F0"/>
                </a:solidFill>
                <a:latin typeface="Consolas"/>
              </a:rPr>
              <a:t>i</a:t>
            </a:r>
            <a:r>
              <a:rPr sz="1100">
                <a:solidFill>
                  <a:srgbClr val="E2E8F0"/>
                </a:solidFill>
                <a:latin typeface="Consolas"/>
              </a:rPr>
              <a:t> &lt; </a:t>
            </a:r>
            <a:r>
              <a:rPr sz="1100">
                <a:solidFill>
                  <a:srgbClr val="E2E8F0"/>
                </a:solidFill>
                <a:latin typeface="Consolas"/>
              </a:rPr>
              <a:t>Math.max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x.length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y.length</a:t>
            </a:r>
            <a:r>
              <a:rPr sz="1100">
                <a:solidFill>
                  <a:srgbClr val="E2E8F0"/>
                </a:solidFill>
                <a:latin typeface="Consolas"/>
              </a:rPr>
              <a:t>); </a:t>
            </a:r>
            <a:r>
              <a:rPr sz="1100">
                <a:solidFill>
                  <a:srgbClr val="E2E8F0"/>
                </a:solidFill>
                <a:latin typeface="Consolas"/>
              </a:rPr>
              <a:t>i</a:t>
            </a:r>
            <a:r>
              <a:rPr sz="1100">
                <a:solidFill>
                  <a:srgbClr val="E2E8F0"/>
                </a:solidFill>
                <a:latin typeface="Consolas"/>
              </a:rPr>
              <a:t>++)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d</a:t>
            </a:r>
            <a:r>
              <a:rPr sz="1100">
                <a:solidFill>
                  <a:srgbClr val="E2E8F0"/>
                </a:solidFill>
                <a:latin typeface="Consolas"/>
              </a:rPr>
              <a:t> = (</a:t>
            </a:r>
            <a:r>
              <a:rPr sz="1100">
                <a:solidFill>
                  <a:srgbClr val="E2E8F0"/>
                </a:solidFill>
                <a:latin typeface="Consolas"/>
              </a:rPr>
              <a:t>x</a:t>
            </a:r>
            <a:r>
              <a:rPr sz="1100">
                <a:solidFill>
                  <a:srgbClr val="E2E8F0"/>
                </a:solidFill>
                <a:latin typeface="Consolas"/>
              </a:rPr>
              <a:t>[</a:t>
            </a:r>
            <a:r>
              <a:rPr sz="1100">
                <a:solidFill>
                  <a:srgbClr val="E2E8F0"/>
                </a:solidFill>
                <a:latin typeface="Consolas"/>
              </a:rPr>
              <a:t>i</a:t>
            </a:r>
            <a:r>
              <a:rPr sz="1100">
                <a:solidFill>
                  <a:srgbClr val="E2E8F0"/>
                </a:solidFill>
                <a:latin typeface="Consolas"/>
              </a:rPr>
              <a:t>] || </a:t>
            </a:r>
            <a:r>
              <a:rPr sz="1100">
                <a:solidFill>
                  <a:srgbClr val="93C5FD"/>
                </a:solidFill>
                <a:latin typeface="Consolas"/>
              </a:rPr>
              <a:t>0</a:t>
            </a:r>
            <a:r>
              <a:rPr sz="1100">
                <a:solidFill>
                  <a:srgbClr val="E2E8F0"/>
                </a:solidFill>
                <a:latin typeface="Consolas"/>
              </a:rPr>
              <a:t>) - (</a:t>
            </a:r>
            <a:r>
              <a:rPr sz="1100">
                <a:solidFill>
                  <a:srgbClr val="E2E8F0"/>
                </a:solidFill>
                <a:latin typeface="Consolas"/>
              </a:rPr>
              <a:t>y</a:t>
            </a:r>
            <a:r>
              <a:rPr sz="1100">
                <a:solidFill>
                  <a:srgbClr val="E2E8F0"/>
                </a:solidFill>
                <a:latin typeface="Consolas"/>
              </a:rPr>
              <a:t>[</a:t>
            </a:r>
            <a:r>
              <a:rPr sz="1100">
                <a:solidFill>
                  <a:srgbClr val="E2E8F0"/>
                </a:solidFill>
                <a:latin typeface="Consolas"/>
              </a:rPr>
              <a:t>i</a:t>
            </a:r>
            <a:r>
              <a:rPr sz="1100">
                <a:solidFill>
                  <a:srgbClr val="E2E8F0"/>
                </a:solidFill>
                <a:latin typeface="Consolas"/>
              </a:rPr>
              <a:t>] || </a:t>
            </a:r>
            <a:r>
              <a:rPr sz="1100">
                <a:solidFill>
                  <a:srgbClr val="93C5FD"/>
                </a:solidFill>
                <a:latin typeface="Consolas"/>
              </a:rPr>
              <a:t>0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C4B5FD"/>
                </a:solidFill>
                <a:latin typeface="Consolas"/>
              </a:rPr>
              <a:t>if</a:t>
            </a:r>
            <a:r>
              <a:rPr sz="1100">
                <a:solidFill>
                  <a:srgbClr val="E2E8F0"/>
                </a:solidFill>
                <a:latin typeface="Consolas"/>
              </a:rPr>
              <a:t> (</a:t>
            </a:r>
            <a:r>
              <a:rPr sz="1100">
                <a:solidFill>
                  <a:srgbClr val="E2E8F0"/>
                </a:solidFill>
                <a:latin typeface="Consolas"/>
              </a:rPr>
              <a:t>d</a:t>
            </a:r>
            <a:r>
              <a:rPr sz="1100">
                <a:solidFill>
                  <a:srgbClr val="E2E8F0"/>
                </a:solidFill>
                <a:latin typeface="Consolas"/>
              </a:rPr>
              <a:t>) </a:t>
            </a:r>
            <a:r>
              <a:rPr sz="1100">
                <a:solidFill>
                  <a:srgbClr val="C4B5FD"/>
                </a:solidFill>
                <a:latin typeface="Consolas"/>
              </a:rPr>
              <a:t>return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d</a:t>
            </a:r>
            <a:r>
              <a:rPr sz="1100">
                <a:solidFill>
                  <a:srgbClr val="E2E8F0"/>
                </a:solidFill>
                <a:latin typeface="Consolas"/>
              </a:rPr>
              <a:t> &gt; </a:t>
            </a:r>
            <a:r>
              <a:rPr sz="1100">
                <a:solidFill>
                  <a:srgbClr val="93C5FD"/>
                </a:solidFill>
                <a:latin typeface="Consolas"/>
              </a:rPr>
              <a:t>0</a:t>
            </a:r>
            <a:r>
              <a:rPr sz="1100">
                <a:solidFill>
                  <a:srgbClr val="E2E8F0"/>
                </a:solidFill>
                <a:latin typeface="Consolas"/>
              </a:rPr>
              <a:t> ? </a:t>
            </a:r>
            <a:r>
              <a:rPr sz="1100">
                <a:solidFill>
                  <a:srgbClr val="93C5FD"/>
                </a:solidFill>
                <a:latin typeface="Consolas"/>
              </a:rPr>
              <a:t>1</a:t>
            </a:r>
            <a:r>
              <a:rPr sz="1100">
                <a:solidFill>
                  <a:srgbClr val="E2E8F0"/>
                </a:solidFill>
                <a:latin typeface="Consolas"/>
              </a:rPr>
              <a:t> : -</a:t>
            </a:r>
            <a:r>
              <a:rPr sz="1100">
                <a:solidFill>
                  <a:srgbClr val="93C5FD"/>
                </a:solidFill>
                <a:latin typeface="Consolas"/>
              </a:rPr>
              <a:t>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return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93C5FD"/>
                </a:solidFill>
                <a:latin typeface="Consolas"/>
              </a:rPr>
              <a:t>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export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C4B5FD"/>
                </a:solidFill>
                <a:latin typeface="Consolas"/>
              </a:rPr>
              <a:t>async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C4B5FD"/>
                </a:solidFill>
                <a:latin typeface="Consolas"/>
              </a:rPr>
              <a:t>function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checkForUpdate</a:t>
            </a:r>
            <a:r>
              <a:rPr sz="1100">
                <a:solidFill>
                  <a:srgbClr val="E2E8F0"/>
                </a:solidFill>
                <a:latin typeface="Consolas"/>
              </a:rPr>
              <a:t>()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res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C4B5FD"/>
                </a:solidFill>
                <a:latin typeface="Consolas"/>
              </a:rPr>
              <a:t>await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fetch</a:t>
            </a:r>
            <a:r>
              <a:rPr sz="1100">
                <a:solidFill>
                  <a:srgbClr val="E2E8F0"/>
                </a:solidFill>
                <a:latin typeface="Consolas"/>
              </a:rPr>
              <a:t>(`</a:t>
            </a:r>
            <a:r>
              <a:rPr sz="1100">
                <a:solidFill>
                  <a:srgbClr val="E2E8F0"/>
                </a:solidFill>
                <a:latin typeface="Consolas"/>
              </a:rPr>
              <a:t>$</a:t>
            </a: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  <a:r>
              <a:rPr sz="1100">
                <a:solidFill>
                  <a:srgbClr val="E2E8F0"/>
                </a:solidFill>
                <a:latin typeface="Consolas"/>
              </a:rPr>
              <a:t>VERSION_PATH</a:t>
            </a:r>
            <a:r>
              <a:rPr sz="1100">
                <a:solidFill>
                  <a:srgbClr val="E2E8F0"/>
                </a:solidFill>
                <a:latin typeface="Consolas"/>
              </a:rPr>
              <a:t>}?</a:t>
            </a:r>
            <a:r>
              <a:rPr sz="1100">
                <a:solidFill>
                  <a:srgbClr val="E2E8F0"/>
                </a:solidFill>
                <a:latin typeface="Consolas"/>
              </a:rPr>
              <a:t>t</a:t>
            </a:r>
            <a:r>
              <a:rPr sz="1100">
                <a:solidFill>
                  <a:srgbClr val="E2E8F0"/>
                </a:solidFill>
                <a:latin typeface="Consolas"/>
              </a:rPr>
              <a:t>=</a:t>
            </a:r>
            <a:r>
              <a:rPr sz="1100">
                <a:solidFill>
                  <a:srgbClr val="E2E8F0"/>
                </a:solidFill>
                <a:latin typeface="Consolas"/>
              </a:rPr>
              <a:t>$</a:t>
            </a:r>
            <a:r>
              <a:rPr sz="1100">
                <a:solidFill>
                  <a:srgbClr val="E2E8F0"/>
                </a:solidFill>
                <a:latin typeface="Consolas"/>
              </a:rPr>
              <a:t>{</a:t>
            </a:r>
            <a:r>
              <a:rPr sz="1100">
                <a:solidFill>
                  <a:srgbClr val="E2E8F0"/>
                </a:solidFill>
                <a:latin typeface="Consolas"/>
              </a:rPr>
              <a:t>Date.now</a:t>
            </a:r>
            <a:r>
              <a:rPr sz="1100">
                <a:solidFill>
                  <a:srgbClr val="E2E8F0"/>
                </a:solidFill>
                <a:latin typeface="Consolas"/>
              </a:rPr>
              <a:t>()}`, { </a:t>
            </a:r>
            <a:r>
              <a:rPr sz="1100">
                <a:solidFill>
                  <a:srgbClr val="E2E8F0"/>
                </a:solidFill>
                <a:latin typeface="Consolas"/>
              </a:rPr>
              <a:t>cache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FDD08A"/>
                </a:solidFill>
                <a:latin typeface="Consolas"/>
              </a:rPr>
              <a:t>'no-store'</a:t>
            </a:r>
            <a:r>
              <a:rPr sz="1100">
                <a:solidFill>
                  <a:srgbClr val="E2E8F0"/>
                </a:solidFill>
                <a:latin typeface="Consolas"/>
              </a:rPr>
              <a:t> })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remote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C4B5FD"/>
                </a:solidFill>
                <a:latin typeface="Consolas"/>
              </a:rPr>
              <a:t>await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res.json</a:t>
            </a:r>
            <a:r>
              <a:rPr sz="1100">
                <a:solidFill>
                  <a:srgbClr val="E2E8F0"/>
                </a:solidFill>
                <a:latin typeface="Consolas"/>
              </a:rPr>
              <a:t>()  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// version.json с сервера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const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cmp</a:t>
            </a:r>
            <a:r>
              <a:rPr sz="1100">
                <a:solidFill>
                  <a:srgbClr val="E2E8F0"/>
                </a:solidFill>
                <a:latin typeface="Consolas"/>
              </a:rPr>
              <a:t> = </a:t>
            </a:r>
            <a:r>
              <a:rPr sz="1100">
                <a:solidFill>
                  <a:srgbClr val="E2E8F0"/>
                </a:solidFill>
                <a:latin typeface="Consolas"/>
              </a:rPr>
              <a:t>compareVersions</a:t>
            </a:r>
            <a:r>
              <a:rPr sz="1100">
                <a:solidFill>
                  <a:srgbClr val="E2E8F0"/>
                </a:solidFill>
                <a:latin typeface="Consolas"/>
              </a:rPr>
              <a:t>(</a:t>
            </a:r>
            <a:r>
              <a:rPr sz="1100">
                <a:solidFill>
                  <a:srgbClr val="E2E8F0"/>
                </a:solidFill>
                <a:latin typeface="Consolas"/>
              </a:rPr>
              <a:t>remote.version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APP_VERSION</a:t>
            </a: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return</a:t>
            </a:r>
            <a:r>
              <a:rPr sz="1100">
                <a:solidFill>
                  <a:srgbClr val="E2E8F0"/>
                </a:solidFill>
                <a:latin typeface="Consolas"/>
              </a:rPr>
              <a:t> { </a:t>
            </a:r>
            <a:r>
              <a:rPr sz="1100">
                <a:solidFill>
                  <a:srgbClr val="E2E8F0"/>
                </a:solidFill>
                <a:latin typeface="Consolas"/>
              </a:rPr>
              <a:t>updateAvailable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cmp</a:t>
            </a:r>
            <a:r>
              <a:rPr sz="1100">
                <a:solidFill>
                  <a:srgbClr val="E2E8F0"/>
                </a:solidFill>
                <a:latin typeface="Consolas"/>
              </a:rPr>
              <a:t> &gt; </a:t>
            </a:r>
            <a:r>
              <a:rPr sz="1100">
                <a:solidFill>
                  <a:srgbClr val="93C5FD"/>
                </a:solidFill>
                <a:latin typeface="Consolas"/>
              </a:rPr>
              <a:t>0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version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remote.version</a:t>
            </a:r>
            <a:r>
              <a:rPr sz="1100">
                <a:solidFill>
                  <a:srgbClr val="E2E8F0"/>
                </a:solidFill>
                <a:latin typeface="Consolas"/>
              </a:rPr>
              <a:t>, </a:t>
            </a:r>
            <a:r>
              <a:rPr sz="1100">
                <a:solidFill>
                  <a:srgbClr val="E2E8F0"/>
                </a:solidFill>
                <a:latin typeface="Consolas"/>
              </a:rPr>
              <a:t>notes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remote.notes</a:t>
            </a:r>
            <a:r>
              <a:rPr sz="1100">
                <a:solidFill>
                  <a:srgbClr val="E2E8F0"/>
                </a:solidFill>
                <a:latin typeface="Consolas"/>
              </a:rPr>
              <a:t>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ИНТЕРФЕЙС ОБНОВЛЕНИЯ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Как показывается обновление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482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Проверка «тихая»: если обновлений нет, пользователь вообще ничего не видит — никаких лишних сообщений.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Если версия новее — на главном экране появляется карточка «Доступно обновление» с тремя пунктами изменений и кнопками «Обновить» и «Позже».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Одновременно можно открыть подробное окно со всем списком изменений и номером версии.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В браузере «Обновить» активирует новый service worker и перезагружает страницу; в APK открывается загрузка новой сборки (установка поверх сохраняет дневник).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00172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src/lib/UpdateProvider.jsx (сокращённо)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47060"/>
            <a:ext cx="10820095" cy="219773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DD39B"/>
                </a:solidFill>
                <a:latin typeface="Consolas"/>
              </a:rPr>
              <a:t>// UpdateProvider: тихая проверка через 1,2 с после запуска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useEffect</a:t>
            </a:r>
            <a:r>
              <a:rPr sz="1150">
                <a:solidFill>
                  <a:srgbClr val="E2E8F0"/>
                </a:solidFill>
                <a:latin typeface="Consolas"/>
              </a:rPr>
              <a:t>(() =&gt;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C4B5FD"/>
                </a:solidFill>
                <a:latin typeface="Consolas"/>
              </a:rPr>
              <a:t>const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timer</a:t>
            </a:r>
            <a:r>
              <a:rPr sz="1150">
                <a:solidFill>
                  <a:srgbClr val="E2E8F0"/>
                </a:solidFill>
                <a:latin typeface="Consolas"/>
              </a:rPr>
              <a:t> = </a:t>
            </a:r>
            <a:r>
              <a:rPr sz="1150">
                <a:solidFill>
                  <a:srgbClr val="E2E8F0"/>
                </a:solidFill>
                <a:latin typeface="Consolas"/>
              </a:rPr>
              <a:t>setTimeout</a:t>
            </a:r>
            <a:r>
              <a:rPr sz="1150">
                <a:solidFill>
                  <a:srgbClr val="E2E8F0"/>
                </a:solidFill>
                <a:latin typeface="Consolas"/>
              </a:rPr>
              <a:t>(() =&gt; </a:t>
            </a:r>
            <a:r>
              <a:rPr sz="1150">
                <a:solidFill>
                  <a:srgbClr val="E2E8F0"/>
                </a:solidFill>
                <a:latin typeface="Consolas"/>
              </a:rPr>
              <a:t>runCheck</a:t>
            </a:r>
            <a:r>
              <a:rPr sz="1150">
                <a:solidFill>
                  <a:srgbClr val="E2E8F0"/>
                </a:solidFill>
                <a:latin typeface="Consolas"/>
              </a:rPr>
              <a:t>({ </a:t>
            </a:r>
            <a:r>
              <a:rPr sz="1150">
                <a:solidFill>
                  <a:srgbClr val="E2E8F0"/>
                </a:solidFill>
                <a:latin typeface="Consolas"/>
              </a:rPr>
              <a:t>silent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C4B5FD"/>
                </a:solidFill>
                <a:latin typeface="Consolas"/>
              </a:rPr>
              <a:t>true</a:t>
            </a:r>
            <a:r>
              <a:rPr sz="1150">
                <a:solidFill>
                  <a:srgbClr val="E2E8F0"/>
                </a:solidFill>
                <a:latin typeface="Consolas"/>
              </a:rPr>
              <a:t> }), </a:t>
            </a:r>
            <a:r>
              <a:rPr sz="1150">
                <a:solidFill>
                  <a:srgbClr val="93C5FD"/>
                </a:solidFill>
                <a:latin typeface="Consolas"/>
              </a:rPr>
              <a:t>1200</a:t>
            </a:r>
            <a:r>
              <a:rPr sz="11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C4B5FD"/>
                </a:solidFill>
                <a:latin typeface="Consolas"/>
              </a:rPr>
              <a:t>return</a:t>
            </a:r>
            <a:r>
              <a:rPr sz="1150">
                <a:solidFill>
                  <a:srgbClr val="E2E8F0"/>
                </a:solidFill>
                <a:latin typeface="Consolas"/>
              </a:rPr>
              <a:t> () =&gt; </a:t>
            </a:r>
            <a:r>
              <a:rPr sz="1150">
                <a:solidFill>
                  <a:srgbClr val="E2E8F0"/>
                </a:solidFill>
                <a:latin typeface="Consolas"/>
              </a:rPr>
              <a:t>clearTimeout</a:t>
            </a:r>
            <a:r>
              <a:rPr sz="1150">
                <a:solidFill>
                  <a:srgbClr val="E2E8F0"/>
                </a:solidFill>
                <a:latin typeface="Consolas"/>
              </a:rPr>
              <a:t>(</a:t>
            </a:r>
            <a:r>
              <a:rPr sz="1150">
                <a:solidFill>
                  <a:srgbClr val="E2E8F0"/>
                </a:solidFill>
                <a:latin typeface="Consolas"/>
              </a:rPr>
              <a:t>timer</a:t>
            </a:r>
            <a:r>
              <a:rPr sz="1150">
                <a:solidFill>
                  <a:srgbClr val="E2E8F0"/>
                </a:solidFill>
                <a:latin typeface="Consolas"/>
              </a:rPr>
              <a:t>)          </a:t>
            </a:r>
            <a:r>
              <a:rPr sz="1150">
                <a:solidFill>
                  <a:srgbClr val="7DD39B"/>
                </a:solidFill>
                <a:latin typeface="Consolas"/>
              </a:rPr>
              <a:t>// очистка таймера при закрытии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}, [</a:t>
            </a:r>
            <a:r>
              <a:rPr sz="1150">
                <a:solidFill>
                  <a:srgbClr val="E2E8F0"/>
                </a:solidFill>
                <a:latin typeface="Consolas"/>
              </a:rPr>
              <a:t>runCheck</a:t>
            </a:r>
            <a:r>
              <a:rPr sz="1150">
                <a:solidFill>
                  <a:srgbClr val="E2E8F0"/>
                </a:solidFill>
                <a:latin typeface="Consolas"/>
              </a:rPr>
              <a:t>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DD39B"/>
                </a:solidFill>
                <a:latin typeface="Consolas"/>
              </a:rPr>
              <a:t>// повторная проверка при возврате в приложение — не чаще раза в 30 минут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C4B5FD"/>
                </a:solidFill>
                <a:latin typeface="Consolas"/>
              </a:rPr>
              <a:t>if</a:t>
            </a:r>
            <a:r>
              <a:rPr sz="1150">
                <a:solidFill>
                  <a:srgbClr val="E2E8F0"/>
                </a:solidFill>
                <a:latin typeface="Consolas"/>
              </a:rPr>
              <a:t> (</a:t>
            </a:r>
            <a:r>
              <a:rPr sz="1150">
                <a:solidFill>
                  <a:srgbClr val="E2E8F0"/>
                </a:solidFill>
                <a:latin typeface="Consolas"/>
              </a:rPr>
              <a:t>Date.now</a:t>
            </a:r>
            <a:r>
              <a:rPr sz="1150">
                <a:solidFill>
                  <a:srgbClr val="E2E8F0"/>
                </a:solidFill>
                <a:latin typeface="Consolas"/>
              </a:rPr>
              <a:t>() - </a:t>
            </a:r>
            <a:r>
              <a:rPr sz="1150">
                <a:solidFill>
                  <a:srgbClr val="E2E8F0"/>
                </a:solidFill>
                <a:latin typeface="Consolas"/>
              </a:rPr>
              <a:t>lastCheckRef.current</a:t>
            </a:r>
            <a:r>
              <a:rPr sz="1150">
                <a:solidFill>
                  <a:srgbClr val="E2E8F0"/>
                </a:solidFill>
                <a:latin typeface="Consolas"/>
              </a:rPr>
              <a:t> &lt; </a:t>
            </a:r>
            <a:r>
              <a:rPr sz="1150">
                <a:solidFill>
                  <a:srgbClr val="E2E8F0"/>
                </a:solidFill>
                <a:latin typeface="Consolas"/>
              </a:rPr>
              <a:t>RECHECK_AFTER_MS</a:t>
            </a:r>
            <a:r>
              <a:rPr sz="1150">
                <a:solidFill>
                  <a:srgbClr val="E2E8F0"/>
                </a:solidFill>
                <a:latin typeface="Consolas"/>
              </a:rPr>
              <a:t>) </a:t>
            </a:r>
            <a:r>
              <a:rPr sz="1150">
                <a:solidFill>
                  <a:srgbClr val="C4B5FD"/>
                </a:solidFill>
                <a:latin typeface="Consolas"/>
              </a:rPr>
              <a:t>return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7DD39B"/>
                </a:solidFill>
                <a:latin typeface="Consolas"/>
              </a:rPr>
              <a:t>// «Позже» запоминает версию, чтобы окно не всплывало при каждом запуске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dismiss</a:t>
            </a:r>
            <a:r>
              <a:rPr sz="1150">
                <a:solidFill>
                  <a:srgbClr val="E2E8F0"/>
                </a:solidFill>
                <a:latin typeface="Consolas"/>
              </a:rPr>
              <a:t>()  →  </a:t>
            </a:r>
            <a:r>
              <a:rPr sz="1150">
                <a:solidFill>
                  <a:srgbClr val="E2E8F0"/>
                </a:solidFill>
                <a:latin typeface="Consolas"/>
              </a:rPr>
              <a:t>postponeVersion</a:t>
            </a:r>
            <a:r>
              <a:rPr sz="1150">
                <a:solidFill>
                  <a:srgbClr val="E2E8F0"/>
                </a:solidFill>
                <a:latin typeface="Consolas"/>
              </a:rPr>
              <a:t>(</a:t>
            </a:r>
            <a:r>
              <a:rPr sz="1150">
                <a:solidFill>
                  <a:srgbClr val="E2E8F0"/>
                </a:solidFill>
                <a:latin typeface="Consolas"/>
              </a:rPr>
              <a:t>current.version</a:t>
            </a:r>
            <a:r>
              <a:rPr sz="115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CI/CD · .github/workflows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Автоматическая сборка сайта и APK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281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Два сценария: deploy.yml публикует сайт на GitHub Pages, build-apk.yml собирает APK и выкладывает его в релизы.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Один и тот же код собирается дважды: для сайта с базой «/chem-lab-tracker/», для Android — с относительными путями.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Каждая сборка получает номер, а версия берётся из package.json — поэтому приложение знает свою версию и может сравнить её с сервером.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Сборка APK идёт без Android Studio: всё делается на серверах GitHub Actions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8750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.github/workflows/build-apk.yml (сокращённо)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45638"/>
            <a:ext cx="10820095" cy="2964687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name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Build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Android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APK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on</a:t>
            </a:r>
            <a:r>
              <a:rPr sz="110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C4B5FD"/>
                </a:solidFill>
                <a:latin typeface="Consolas"/>
              </a:rPr>
              <a:t>push</a:t>
            </a:r>
            <a:r>
              <a:rPr sz="110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C4B5FD"/>
                </a:solidFill>
                <a:latin typeface="Consolas"/>
              </a:rPr>
              <a:t>branches</a:t>
            </a:r>
            <a:r>
              <a:rPr sz="1100">
                <a:solidFill>
                  <a:srgbClr val="E2E8F0"/>
                </a:solidFill>
                <a:latin typeface="Consolas"/>
              </a:rPr>
              <a:t>: [</a:t>
            </a:r>
            <a:r>
              <a:rPr sz="1100">
                <a:solidFill>
                  <a:srgbClr val="E2E8F0"/>
                </a:solidFill>
                <a:latin typeface="Consolas"/>
              </a:rPr>
              <a:t>main</a:t>
            </a:r>
            <a:r>
              <a:rPr sz="1100">
                <a:solidFill>
                  <a:srgbClr val="E2E8F0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C4B5FD"/>
                </a:solidFill>
                <a:latin typeface="Consolas"/>
              </a:rPr>
              <a:t>tags</a:t>
            </a:r>
            <a:r>
              <a:rPr sz="1100">
                <a:solidFill>
                  <a:srgbClr val="E2E8F0"/>
                </a:solidFill>
                <a:latin typeface="Consolas"/>
              </a:rPr>
              <a:t>: [</a:t>
            </a:r>
            <a:r>
              <a:rPr sz="1100">
                <a:solidFill>
                  <a:srgbClr val="FDD08A"/>
                </a:solidFill>
                <a:latin typeface="Consolas"/>
              </a:rPr>
              <a:t>'v*'</a:t>
            </a:r>
            <a:r>
              <a:rPr sz="1100">
                <a:solidFill>
                  <a:srgbClr val="E2E8F0"/>
                </a:solidFill>
                <a:latin typeface="Consolas"/>
              </a:rPr>
              <a:t>]   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# или вручную из вкладки Actions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C4B5FD"/>
                </a:solidFill>
                <a:latin typeface="Consolas"/>
              </a:rPr>
              <a:t>jobs</a:t>
            </a:r>
            <a:r>
              <a:rPr sz="110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</a:t>
            </a:r>
            <a:r>
              <a:rPr sz="1100">
                <a:solidFill>
                  <a:srgbClr val="E2E8F0"/>
                </a:solidFill>
                <a:latin typeface="Consolas"/>
              </a:rPr>
              <a:t>apk</a:t>
            </a:r>
            <a:r>
              <a:rPr sz="110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C4B5FD"/>
                </a:solidFill>
                <a:latin typeface="Consolas"/>
              </a:rPr>
              <a:t>steps</a:t>
            </a:r>
            <a:r>
              <a:rPr sz="110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- </a:t>
            </a:r>
            <a:r>
              <a:rPr sz="1100">
                <a:solidFill>
                  <a:srgbClr val="C4B5FD"/>
                </a:solidFill>
                <a:latin typeface="Consolas"/>
              </a:rPr>
              <a:t>uses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actions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  <a:r>
              <a:rPr sz="1100">
                <a:solidFill>
                  <a:srgbClr val="E2E8F0"/>
                </a:solidFill>
                <a:latin typeface="Consolas"/>
              </a:rPr>
              <a:t>checkout</a:t>
            </a:r>
            <a:r>
              <a:rPr sz="1100">
                <a:solidFill>
                  <a:srgbClr val="E2E8F0"/>
                </a:solidFill>
                <a:latin typeface="Consolas"/>
              </a:rPr>
              <a:t>@</a:t>
            </a:r>
            <a:r>
              <a:rPr sz="1100">
                <a:solidFill>
                  <a:srgbClr val="E2E8F0"/>
                </a:solidFill>
                <a:latin typeface="Consolas"/>
              </a:rPr>
              <a:t>v4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- </a:t>
            </a:r>
            <a:r>
              <a:rPr sz="1100">
                <a:solidFill>
                  <a:srgbClr val="C4B5FD"/>
                </a:solidFill>
                <a:latin typeface="Consolas"/>
              </a:rPr>
              <a:t>uses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actions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  <a:r>
              <a:rPr sz="1100">
                <a:solidFill>
                  <a:srgbClr val="E2E8F0"/>
                </a:solidFill>
                <a:latin typeface="Consolas"/>
              </a:rPr>
              <a:t>setup-java</a:t>
            </a:r>
            <a:r>
              <a:rPr sz="1100">
                <a:solidFill>
                  <a:srgbClr val="E2E8F0"/>
                </a:solidFill>
                <a:latin typeface="Consolas"/>
              </a:rPr>
              <a:t>@</a:t>
            </a:r>
            <a:r>
              <a:rPr sz="1100">
                <a:solidFill>
                  <a:srgbClr val="E2E8F0"/>
                </a:solidFill>
                <a:latin typeface="Consolas"/>
              </a:rPr>
              <a:t>v4</a:t>
            </a:r>
            <a:r>
              <a:rPr sz="1100">
                <a:solidFill>
                  <a:srgbClr val="E2E8F0"/>
                </a:solidFill>
                <a:latin typeface="Consolas"/>
              </a:rPr>
              <a:t>   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# JDK 21 для Android SDK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- </a:t>
            </a:r>
            <a:r>
              <a:rPr sz="1100">
                <a:solidFill>
                  <a:srgbClr val="C4B5FD"/>
                </a:solidFill>
                <a:latin typeface="Consolas"/>
              </a:rPr>
              <a:t>run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npm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ci</a:t>
            </a:r>
            <a:r>
              <a:rPr sz="1100">
                <a:solidFill>
                  <a:srgbClr val="E2E8F0"/>
                </a:solidFill>
                <a:latin typeface="Consolas"/>
              </a:rPr>
              <a:t>                   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# установка зависимостей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- </a:t>
            </a:r>
            <a:r>
              <a:rPr sz="1100">
                <a:solidFill>
                  <a:srgbClr val="C4B5FD"/>
                </a:solidFill>
                <a:latin typeface="Consolas"/>
              </a:rPr>
              <a:t>run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npm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C4B5FD"/>
                </a:solidFill>
                <a:latin typeface="Consolas"/>
              </a:rPr>
              <a:t>run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build</a:t>
            </a:r>
            <a:r>
              <a:rPr sz="1100">
                <a:solidFill>
                  <a:srgbClr val="E2E8F0"/>
                </a:solidFill>
                <a:latin typeface="Consolas"/>
              </a:rPr>
              <a:t>:</a:t>
            </a:r>
            <a:r>
              <a:rPr sz="1100">
                <a:solidFill>
                  <a:srgbClr val="E2E8F0"/>
                </a:solidFill>
                <a:latin typeface="Consolas"/>
              </a:rPr>
              <a:t>apk-web</a:t>
            </a:r>
            <a:r>
              <a:rPr sz="1100">
                <a:solidFill>
                  <a:srgbClr val="E2E8F0"/>
                </a:solidFill>
                <a:latin typeface="Consolas"/>
              </a:rPr>
              <a:t>    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# сборка веб-части (base './')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- </a:t>
            </a:r>
            <a:r>
              <a:rPr sz="1100">
                <a:solidFill>
                  <a:srgbClr val="C4B5FD"/>
                </a:solidFill>
                <a:latin typeface="Consolas"/>
              </a:rPr>
              <a:t>run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npx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cap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add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android</a:t>
            </a:r>
            <a:r>
              <a:rPr sz="1100">
                <a:solidFill>
                  <a:srgbClr val="E2E8F0"/>
                </a:solidFill>
                <a:latin typeface="Consolas"/>
              </a:rPr>
              <a:t> &amp;&amp; </a:t>
            </a:r>
            <a:r>
              <a:rPr sz="1100">
                <a:solidFill>
                  <a:srgbClr val="E2E8F0"/>
                </a:solidFill>
                <a:latin typeface="Consolas"/>
              </a:rPr>
              <a:t>npx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cap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sync</a:t>
            </a:r>
            <a:r>
              <a:rPr sz="1100">
                <a:solidFill>
                  <a:srgbClr val="E2E8F0"/>
                </a:solidFill>
                <a:latin typeface="Consolas"/>
              </a:rPr>
              <a:t>    </a:t>
            </a:r>
            <a:r>
              <a:rPr sz="1100">
                <a:solidFill>
                  <a:srgbClr val="7DD39B"/>
                </a:solidFill>
                <a:latin typeface="Consolas"/>
              </a:rPr>
              <a:t># перенос в нативный проект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- </a:t>
            </a:r>
            <a:r>
              <a:rPr sz="1100">
                <a:solidFill>
                  <a:srgbClr val="C4B5FD"/>
                </a:solidFill>
                <a:latin typeface="Consolas"/>
              </a:rPr>
              <a:t>run</a:t>
            </a:r>
            <a:r>
              <a:rPr sz="1100">
                <a:solidFill>
                  <a:srgbClr val="E2E8F0"/>
                </a:solidFill>
                <a:latin typeface="Consolas"/>
              </a:rPr>
              <a:t>: ./</a:t>
            </a:r>
            <a:r>
              <a:rPr sz="1100">
                <a:solidFill>
                  <a:srgbClr val="E2E8F0"/>
                </a:solidFill>
                <a:latin typeface="Consolas"/>
              </a:rPr>
              <a:t>gradlew</a:t>
            </a: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  <a:r>
              <a:rPr sz="1100">
                <a:solidFill>
                  <a:srgbClr val="E2E8F0"/>
                </a:solidFill>
                <a:latin typeface="Consolas"/>
              </a:rPr>
              <a:t>assembleDebug</a:t>
            </a:r>
            <a:r>
              <a:rPr sz="1100">
                <a:solidFill>
                  <a:srgbClr val="E2E8F0"/>
                </a:solidFill>
                <a:latin typeface="Consolas"/>
              </a:rPr>
              <a:t>                </a:t>
            </a:r>
            <a:r>
              <a:rPr sz="1100">
                <a:solidFill>
                  <a:srgbClr val="7DD39B"/>
                </a:solidFill>
                <a:latin typeface="Consolas"/>
              </a:rPr>
              <a:t># сборка APK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- </a:t>
            </a:r>
            <a:r>
              <a:rPr sz="1100">
                <a:solidFill>
                  <a:srgbClr val="C4B5FD"/>
                </a:solidFill>
                <a:latin typeface="Consolas"/>
              </a:rPr>
              <a:t>uses</a:t>
            </a:r>
            <a:r>
              <a:rPr sz="1100">
                <a:solidFill>
                  <a:srgbClr val="E2E8F0"/>
                </a:solidFill>
                <a:latin typeface="Consolas"/>
              </a:rPr>
              <a:t>: </a:t>
            </a:r>
            <a:r>
              <a:rPr sz="1100">
                <a:solidFill>
                  <a:srgbClr val="E2E8F0"/>
                </a:solidFill>
                <a:latin typeface="Consolas"/>
              </a:rPr>
              <a:t>softprops</a:t>
            </a:r>
            <a:r>
              <a:rPr sz="1100">
                <a:solidFill>
                  <a:srgbClr val="E2E8F0"/>
                </a:solidFill>
                <a:latin typeface="Consolas"/>
              </a:rPr>
              <a:t>/</a:t>
            </a:r>
            <a:r>
              <a:rPr sz="1100">
                <a:solidFill>
                  <a:srgbClr val="E2E8F0"/>
                </a:solidFill>
                <a:latin typeface="Consolas"/>
              </a:rPr>
              <a:t>action-gh-release</a:t>
            </a:r>
            <a:r>
              <a:rPr sz="1100">
                <a:solidFill>
                  <a:srgbClr val="E2E8F0"/>
                </a:solidFill>
                <a:latin typeface="Consolas"/>
              </a:rPr>
              <a:t>@</a:t>
            </a:r>
            <a:r>
              <a:rPr sz="1100">
                <a:solidFill>
                  <a:srgbClr val="E2E8F0"/>
                </a:solidFill>
                <a:latin typeface="Consolas"/>
              </a:rPr>
              <a:t>v2</a:t>
            </a:r>
            <a:r>
              <a:rPr sz="1100">
                <a:solidFill>
                  <a:srgbClr val="E2E8F0"/>
                </a:solidFill>
                <a:latin typeface="Consolas"/>
              </a:rPr>
              <a:t>        </a:t>
            </a:r>
            <a:r>
              <a:rPr sz="1100">
                <a:solidFill>
                  <a:srgbClr val="7DD39B"/>
                </a:solidFill>
                <a:latin typeface="Consolas"/>
              </a:rPr>
              <a:t># публикация релиза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МЕЛОЧИ, КОТОРЫЕ ВИДНЫ НА ТЕЛЕФОНЕ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Мобильные детали и качество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2814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Отступы под системные элементы: env(safe-area-inset-*) — «чёлка» и полоса жестов на iPhone.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Поля ввода размером 16px — иначе Safari сам приближает страницу при фокусе и «ломает» вёрстку.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Крупные кнопки и нижнее меню — чтобы пользоваться приложением одной рукой.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Пустые состояния: если записей нет или поиск ничего не нашёл, показывается подсказка, а не пустой экран.</a:t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7C3AED"/>
                </a:solidFill>
                <a:latin typeface="Arial"/>
              </a:rPr>
              <a:t>▸ </a:t>
            </a:r>
            <a:r>
              <a:rPr sz="1300" b="0">
                <a:solidFill>
                  <a:srgbClr val="1F2937"/>
                </a:solidFill>
                <a:latin typeface="Arial"/>
              </a:rPr>
              <a:t>Проверка перед каждым коммитом: линтер oxlint, сборка проекта, проверка всех маршрутов.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8750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src/index.css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45638"/>
            <a:ext cx="10820095" cy="1663192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/* </a:t>
            </a:r>
            <a:r>
              <a:rPr sz="1150">
                <a:solidFill>
                  <a:srgbClr val="E2E8F0"/>
                </a:solidFill>
                <a:latin typeface="Consolas"/>
              </a:rPr>
              <a:t>src</a:t>
            </a:r>
            <a:r>
              <a:rPr sz="1150">
                <a:solidFill>
                  <a:srgbClr val="E2E8F0"/>
                </a:solidFill>
                <a:latin typeface="Consolas"/>
              </a:rPr>
              <a:t>/</a:t>
            </a:r>
            <a:r>
              <a:rPr sz="1150">
                <a:solidFill>
                  <a:srgbClr val="E2E8F0"/>
                </a:solidFill>
                <a:latin typeface="Consolas"/>
              </a:rPr>
              <a:t>index.css</a:t>
            </a:r>
            <a:r>
              <a:rPr sz="1150">
                <a:solidFill>
                  <a:srgbClr val="E2E8F0"/>
                </a:solidFill>
                <a:latin typeface="Consolas"/>
              </a:rPr>
              <a:t> */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body</a:t>
            </a:r>
            <a:r>
              <a:rPr sz="1150">
                <a:solidFill>
                  <a:srgbClr val="E2E8F0"/>
                </a:solidFill>
                <a:latin typeface="Consolas"/>
              </a:rPr>
              <a:t>            { </a:t>
            </a:r>
            <a:r>
              <a:rPr sz="1150">
                <a:solidFill>
                  <a:srgbClr val="E2E8F0"/>
                </a:solidFill>
                <a:latin typeface="Consolas"/>
              </a:rPr>
              <a:t>overscroll-behavior-y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E2E8F0"/>
                </a:solidFill>
                <a:latin typeface="Consolas"/>
              </a:rPr>
              <a:t>none</a:t>
            </a:r>
            <a:r>
              <a:rPr sz="1150">
                <a:solidFill>
                  <a:srgbClr val="E2E8F0"/>
                </a:solidFill>
                <a:latin typeface="Consolas"/>
              </a:rPr>
              <a:t>; -</a:t>
            </a:r>
            <a:r>
              <a:rPr sz="1150">
                <a:solidFill>
                  <a:srgbClr val="E2E8F0"/>
                </a:solidFill>
                <a:latin typeface="Consolas"/>
              </a:rPr>
              <a:t>webkit-tap-highlight-color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E2E8F0"/>
                </a:solidFill>
                <a:latin typeface="Consolas"/>
              </a:rPr>
              <a:t>transparent</a:t>
            </a:r>
            <a:r>
              <a:rPr sz="1150">
                <a:solidFill>
                  <a:srgbClr val="E2E8F0"/>
                </a:solidFill>
                <a:latin typeface="Consolas"/>
              </a:rPr>
              <a:t>;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input</a:t>
            </a:r>
            <a:r>
              <a:rPr sz="1150">
                <a:solidFill>
                  <a:srgbClr val="E2E8F0"/>
                </a:solidFill>
                <a:latin typeface="Consolas"/>
              </a:rPr>
              <a:t>, </a:t>
            </a:r>
            <a:r>
              <a:rPr sz="1150">
                <a:solidFill>
                  <a:srgbClr val="E2E8F0"/>
                </a:solidFill>
                <a:latin typeface="Consolas"/>
              </a:rPr>
              <a:t>textarea</a:t>
            </a:r>
            <a:r>
              <a:rPr sz="1150">
                <a:solidFill>
                  <a:srgbClr val="E2E8F0"/>
                </a:solidFill>
                <a:latin typeface="Consolas"/>
              </a:rPr>
              <a:t> { </a:t>
            </a:r>
            <a:r>
              <a:rPr sz="1150">
                <a:solidFill>
                  <a:srgbClr val="E2E8F0"/>
                </a:solidFill>
                <a:latin typeface="Consolas"/>
              </a:rPr>
              <a:t>font-size</a:t>
            </a:r>
            <a:r>
              <a:rPr sz="1150">
                <a:solidFill>
                  <a:srgbClr val="E2E8F0"/>
                </a:solidFill>
                <a:latin typeface="Consolas"/>
              </a:rPr>
              <a:t>: 16</a:t>
            </a:r>
            <a:r>
              <a:rPr sz="1150">
                <a:solidFill>
                  <a:srgbClr val="E2E8F0"/>
                </a:solidFill>
                <a:latin typeface="Consolas"/>
              </a:rPr>
              <a:t>px</a:t>
            </a:r>
            <a:r>
              <a:rPr sz="1150">
                <a:solidFill>
                  <a:srgbClr val="E2E8F0"/>
                </a:solidFill>
                <a:latin typeface="Consolas"/>
              </a:rPr>
              <a:t>; }     /* </a:t>
            </a:r>
            <a:r>
              <a:rPr sz="1150">
                <a:solidFill>
                  <a:srgbClr val="E2E8F0"/>
                </a:solidFill>
                <a:latin typeface="Consolas"/>
              </a:rPr>
              <a:t>iPhone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не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приближает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страницу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при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вводе</a:t>
            </a:r>
            <a:r>
              <a:rPr sz="1150">
                <a:solidFill>
                  <a:srgbClr val="E2E8F0"/>
                </a:solidFill>
                <a:latin typeface="Consolas"/>
              </a:rPr>
              <a:t> */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.</a:t>
            </a:r>
            <a:r>
              <a:rPr sz="1150">
                <a:solidFill>
                  <a:srgbClr val="E2E8F0"/>
                </a:solidFill>
                <a:latin typeface="Consolas"/>
              </a:rPr>
              <a:t>table-scroll</a:t>
            </a:r>
            <a:r>
              <a:rPr sz="1150">
                <a:solidFill>
                  <a:srgbClr val="E2E8F0"/>
                </a:solidFill>
                <a:latin typeface="Consolas"/>
              </a:rPr>
              <a:t> {                          /* </a:t>
            </a:r>
            <a:r>
              <a:rPr sz="1150">
                <a:solidFill>
                  <a:srgbClr val="E2E8F0"/>
                </a:solidFill>
                <a:latin typeface="Consolas"/>
              </a:rPr>
              <a:t>свои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таблицы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E2E8F0"/>
                </a:solidFill>
                <a:latin typeface="Consolas"/>
              </a:rPr>
              <a:t>плавный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скролл</a:t>
            </a: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  <a:r>
              <a:rPr sz="1150">
                <a:solidFill>
                  <a:srgbClr val="E2E8F0"/>
                </a:solidFill>
                <a:latin typeface="Consolas"/>
              </a:rPr>
              <a:t>и</a:t>
            </a:r>
            <a:r>
              <a:rPr sz="1150">
                <a:solidFill>
                  <a:srgbClr val="E2E8F0"/>
                </a:solidFill>
                <a:latin typeface="Consolas"/>
              </a:rPr>
              <a:t> «</a:t>
            </a:r>
            <a:r>
              <a:rPr sz="1150">
                <a:solidFill>
                  <a:srgbClr val="E2E8F0"/>
                </a:solidFill>
                <a:latin typeface="Consolas"/>
              </a:rPr>
              <a:t>липкие</a:t>
            </a:r>
            <a:r>
              <a:rPr sz="1150">
                <a:solidFill>
                  <a:srgbClr val="E2E8F0"/>
                </a:solidFill>
                <a:latin typeface="Consolas"/>
              </a:rPr>
              <a:t>» </a:t>
            </a:r>
            <a:r>
              <a:rPr sz="1150">
                <a:solidFill>
                  <a:srgbClr val="E2E8F0"/>
                </a:solidFill>
                <a:latin typeface="Consolas"/>
              </a:rPr>
              <a:t>заголовки</a:t>
            </a:r>
            <a:r>
              <a:rPr sz="1150">
                <a:solidFill>
                  <a:srgbClr val="E2E8F0"/>
                </a:solidFill>
                <a:latin typeface="Consolas"/>
              </a:rPr>
              <a:t> */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-</a:t>
            </a:r>
            <a:r>
              <a:rPr sz="1150">
                <a:solidFill>
                  <a:srgbClr val="E2E8F0"/>
                </a:solidFill>
                <a:latin typeface="Consolas"/>
              </a:rPr>
              <a:t>webkit-overflow-scrolling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E2E8F0"/>
                </a:solidFill>
                <a:latin typeface="Consolas"/>
              </a:rPr>
              <a:t>touch</a:t>
            </a:r>
            <a:r>
              <a:rPr sz="11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</a:t>
            </a:r>
            <a:r>
              <a:rPr sz="1150">
                <a:solidFill>
                  <a:srgbClr val="E2E8F0"/>
                </a:solidFill>
                <a:latin typeface="Consolas"/>
              </a:rPr>
              <a:t>overscroll-behavior-x</a:t>
            </a:r>
            <a:r>
              <a:rPr sz="1150">
                <a:solidFill>
                  <a:srgbClr val="E2E8F0"/>
                </a:solidFill>
                <a:latin typeface="Consolas"/>
              </a:rPr>
              <a:t>: </a:t>
            </a:r>
            <a:r>
              <a:rPr sz="1150">
                <a:solidFill>
                  <a:srgbClr val="E2E8F0"/>
                </a:solidFill>
                <a:latin typeface="Consolas"/>
              </a:rPr>
              <a:t>contain</a:t>
            </a:r>
            <a:r>
              <a:rPr sz="11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6B6D4"/>
                </a:solidFill>
                <a:latin typeface="Arial"/>
              </a:rPr>
              <a:t>РЕЗУЛЬТАТ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3B0F6B"/>
                </a:solidFill>
                <a:latin typeface="Arial"/>
              </a:rPr>
              <a:t>Итоги и чему я научился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188719"/>
            <a:ext cx="128016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65815" y="63093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778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778"/>
                </a:solidFill>
                <a:latin typeface="Arial"/>
              </a:rPr>
              <a:t>ChemLab Tracker · приложение-справочник по химии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10820095" cy="1738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Результат: </a:t>
            </a:r>
            <a:r>
              <a:rPr sz="1350" b="0">
                <a:solidFill>
                  <a:srgbClr val="1F2937"/>
                </a:solidFill>
                <a:latin typeface="Arial"/>
              </a:rPr>
              <a:t>приложение из 9 экранов, которое работает и как сайт, и как приложение для Android.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Данные: </a:t>
            </a:r>
            <a:r>
              <a:rPr sz="1350" b="0">
                <a:solidFill>
                  <a:srgbClr val="1F2937"/>
                </a:solidFill>
                <a:latin typeface="Arial"/>
              </a:rPr>
              <a:t>118 элементов, 40 реакций, таблица растворимости 24 × 18, справочные ряды и схемы.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Офлайн и данные: </a:t>
            </a:r>
            <a:r>
              <a:rPr sz="1350" b="0">
                <a:solidFill>
                  <a:srgbClr val="1F2937"/>
                </a:solidFill>
                <a:latin typeface="Arial"/>
              </a:rPr>
              <a:t>после первого открытия приложение работает без интернета; записи хранятся на устройстве.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На практике отработал: </a:t>
            </a:r>
            <a:r>
              <a:rPr sz="1350" b="0">
                <a:solidFill>
                  <a:srgbClr val="1F2937"/>
                </a:solidFill>
                <a:latin typeface="Arial"/>
              </a:rPr>
              <a:t>компоненты и хуки React, контекст для общих данных, разбор строк (парсер формул), CSS Grid, PWA и service worker, сборку APK через CI.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3AED"/>
                </a:solidFill>
                <a:latin typeface="Arial"/>
              </a:rPr>
              <a:t>▸ </a:t>
            </a:r>
            <a:r>
              <a:rPr sz="1350" b="1">
                <a:solidFill>
                  <a:srgbClr val="1F2937"/>
                </a:solidFill>
                <a:latin typeface="Arial"/>
              </a:rPr>
              <a:t>Главный вывод: </a:t>
            </a:r>
            <a:r>
              <a:rPr sz="1350" b="0">
                <a:solidFill>
                  <a:srgbClr val="1F2937"/>
                </a:solidFill>
                <a:latin typeface="Arial"/>
              </a:rPr>
              <a:t>сложнее всего не вёрстка, а продумывание связей — где хранить данные, как их передать и как обновлять без потери пользовательских записей.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5822"/>
            <a:ext cx="10820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5B6778"/>
                </a:solidFill>
                <a:latin typeface="Arial"/>
              </a:rPr>
              <a:t>Что можно сделать дальше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02710"/>
            <a:ext cx="10820095" cy="98145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82296" b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Планы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развития</a:t>
            </a:r>
            <a:r>
              <a:rPr sz="120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· </a:t>
            </a:r>
            <a:r>
              <a:rPr sz="1200">
                <a:solidFill>
                  <a:srgbClr val="E2E8F0"/>
                </a:solidFill>
                <a:latin typeface="Consolas"/>
              </a:rPr>
              <a:t>экспорт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дневника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в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PDF</a:t>
            </a:r>
            <a:r>
              <a:rPr sz="1200">
                <a:solidFill>
                  <a:srgbClr val="E2E8F0"/>
                </a:solidFill>
                <a:latin typeface="Consolas"/>
              </a:rPr>
              <a:t>/</a:t>
            </a:r>
            <a:r>
              <a:rPr sz="1200">
                <a:solidFill>
                  <a:srgbClr val="E2E8F0"/>
                </a:solidFill>
                <a:latin typeface="Consolas"/>
              </a:rPr>
              <a:t>таблицу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и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печать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отчёта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об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опыте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· </a:t>
            </a:r>
            <a:r>
              <a:rPr sz="1200">
                <a:solidFill>
                  <a:srgbClr val="E2E8F0"/>
                </a:solidFill>
                <a:latin typeface="Consolas"/>
              </a:rPr>
              <a:t>собственные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реакции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пользователя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и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избранные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элементы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· </a:t>
            </a:r>
            <a:r>
              <a:rPr sz="1200">
                <a:solidFill>
                  <a:srgbClr val="E2E8F0"/>
                </a:solidFill>
                <a:latin typeface="Consolas"/>
              </a:rPr>
              <a:t>версия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для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планшета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с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двумя</a:t>
            </a:r>
            <a:r>
              <a:rPr sz="1200">
                <a:solidFill>
                  <a:srgbClr val="E2E8F0"/>
                </a:solidFill>
                <a:latin typeface="Consolas"/>
              </a:rPr>
              <a:t> </a:t>
            </a:r>
            <a:r>
              <a:rPr sz="1200">
                <a:solidFill>
                  <a:srgbClr val="E2E8F0"/>
                </a:solidFill>
                <a:latin typeface="Consolas"/>
              </a:rPr>
              <a:t>колонками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4712" y="3200400"/>
            <a:ext cx="201168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9144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F5F3FF"/>
                </a:solidFill>
                <a:latin typeface="Arial"/>
              </a:rPr>
              <a:t>Готов ответить на вопросы по коду, данным и сборке.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5F3FF"/>
                </a:solidFill>
                <a:latin typeface="Arial"/>
              </a:rPr>
              <a:t>Проект доступен онлайн: сайт приложения и APK для Android.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